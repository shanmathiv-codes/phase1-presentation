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0" r:id="rId3"/>
    <p:sldId id="259" r:id="rId4"/>
    <p:sldId id="261" r:id="rId5"/>
    <p:sldId id="262" r:id="rId6"/>
    <p:sldId id="264" r:id="rId7"/>
    <p:sldId id="265" r:id="rId8"/>
    <p:sldId id="266" r:id="rId9"/>
    <p:sldId id="268" r:id="rId10"/>
    <p:sldId id="267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85" dt="2026-09-14T17:59:31.729"/>
    <p1510:client id="{2FF9E4B1-B823-4982-9A66-243D9BECF0D3}" v="1" dt="2026-09-14T17:08:48.014"/>
    <p1510:client id="{D8C750B5-FC1D-B6D7-78D0-A84DDD313137}" v="16" dt="2026-09-15T16:37:51.1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654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90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696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993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761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0058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7444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274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9100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4622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8B2456C-66BE-435E-8059-3A9CD55F29F9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93096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7409D93-5111-4952-AC4F-FA1AE909A4B8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7427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18053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1935215-257D-4F50-AF56-70E3294947FA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/>
            <a:ahLst/>
            <a:cxnLst/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2150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B0E3CDF-6E7C-4C67-B567-8606B07963A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6071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060FE60-4389-4D8B-84BB-900FC000024C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28253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4391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FCE55E5-7E1C-4243-A685-91A6EB8BE97F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1462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112603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28054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1873366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15818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33798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9088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7906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99596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28991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850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526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43A24-7157-EA01-FD63-C36B592D6B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Network Operations &amp; Predictive Intelligence System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8BD05E-5430-7153-2A49-8AEB465AE1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From reactive network monitoring to proactive network intelligence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071703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88E21-F5A2-DFE5-9E93-770E1977F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The Problem 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D66C6-41D8-0679-63BA-3DF849CA9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5D187-0BB6-B1A0-19EE-CEFAA763F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5F16-13CA-41A3-817B-E1D978C45851}" type="datetime1"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252AB6-27CE-C529-C182-C7369B616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2BF5D3-8890-E885-3AE9-6D574507B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 dirty="0"/>
              <a:t>Telecom networks generate massive amounts of activity data</a:t>
            </a:r>
            <a:endParaRPr lang="en-US" sz="1600" dirty="0"/>
          </a:p>
          <a:p>
            <a:r>
              <a:rPr lang="en-US" sz="1600" dirty="0"/>
              <a:t>Every hour, thousands of network cells generate data from:</a:t>
            </a:r>
          </a:p>
          <a:p>
            <a:pPr marL="285750" indent="-285750">
              <a:buFont typeface="Arial,Sans-Serif"/>
              <a:buChar char="•"/>
            </a:pPr>
            <a:r>
              <a:rPr lang="en-US" sz="1600" dirty="0"/>
              <a:t>SMS activity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1600" dirty="0"/>
              <a:t>Call activity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1600" dirty="0"/>
              <a:t>Internet usage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1600" dirty="0"/>
              <a:t>Geographic grid locations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1600" dirty="0"/>
              <a:t>Historical network </a:t>
            </a:r>
            <a:r>
              <a:rPr lang="en-US" sz="1600" dirty="0" err="1"/>
              <a:t>behaviour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509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EBCC3-B1E5-69A6-A3A5-0B13892E0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The challenge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E50452-F430-2BC2-3ADF-170419928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707BE-5487-310D-3927-730D8CF62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F6253-6C8E-4CB3-8B47-825EA1A1E731}" type="datetime1"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CC98A6-5811-D618-7775-23B769B94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63FB5D-F76B-4B52-7FED-01CAB9C63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Traditional network monitoring is largely reactive.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 network operations team often discovers an abnormal situation only after activity has already changed significantly.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This creates problems: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Delayed detection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Manual investigation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Difficulty identifying high-risk cells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Large volumes of data to monitor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Historical patterns are difficult to use operationally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23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C830E-FAC5-25C1-1C92-CA0C0A459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5D3B12-C5BC-D03F-25A9-DC32600F5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56B4C-C88C-7B17-75AB-B137D5B0D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9E8DD-1894-4C5A-BD75-7A28C54A5246}" type="datetime1"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8A6A2-23BD-4581-B4F3-6D3DA9C93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064E60-09F6-3756-9377-370F033302C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question:</a:t>
            </a:r>
          </a:p>
          <a:p>
            <a:r>
              <a:rPr lang="en-US" sz="2800" dirty="0">
                <a:ea typeface="+mn-lt"/>
                <a:cs typeface="+mn-lt"/>
              </a:rPr>
              <a:t>Can we predict which network cells are likely to experience unusually high activity before the NOC needs to investigate them?</a:t>
            </a:r>
            <a:endParaRPr lang="en-US" sz="280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758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BB3A2-71BF-BBF1-2B8D-62327EE47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The Product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04688-9DF7-B309-8456-E6C7C9428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9D5F2-D088-6DA4-D53B-5D2CBB7AF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88BA9-DF34-4E6F-B28D-391D17CF8CF0}" type="datetime1"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EE0A4F-EEC3-4461-9055-51EC86A3D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4B998D-0C40-98E7-5592-437D094CA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1991360"/>
            <a:ext cx="9942409" cy="430530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600" b="1" dirty="0"/>
              <a:t>Network Operations Intelligence Platform</a:t>
            </a:r>
            <a:endParaRPr lang="en-US" sz="2600"/>
          </a:p>
          <a:p>
            <a:r>
              <a:rPr lang="en-US" dirty="0">
                <a:ea typeface="+mn-lt"/>
                <a:cs typeface="+mn-lt"/>
              </a:rPr>
              <a:t>A unified platform that transforms raw telecom activity data into:</a:t>
            </a:r>
            <a:endParaRPr lang="en-US" dirty="0"/>
          </a:p>
          <a:p>
            <a:r>
              <a:rPr lang="en-US" b="1" dirty="0"/>
              <a:t>Observe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Real-time network activity visibility</a:t>
            </a:r>
            <a:endParaRPr lang="en-US" dirty="0"/>
          </a:p>
          <a:p>
            <a:r>
              <a:rPr lang="en-US" b="1" dirty="0"/>
              <a:t>Detect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Historical anomaly detection</a:t>
            </a:r>
            <a:endParaRPr lang="en-US" dirty="0"/>
          </a:p>
          <a:p>
            <a:r>
              <a:rPr lang="en-US" b="1" dirty="0"/>
              <a:t>Predict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Machine-learning-based network risk prediction</a:t>
            </a:r>
            <a:endParaRPr lang="en-US" dirty="0"/>
          </a:p>
          <a:p>
            <a:r>
              <a:rPr lang="en-US" b="1" dirty="0"/>
              <a:t>Explain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AI-assisted operational insights</a:t>
            </a:r>
            <a:endParaRPr lang="en-US" dirty="0"/>
          </a:p>
          <a:p>
            <a:r>
              <a:rPr lang="en-US" b="1" dirty="0"/>
              <a:t>Act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Give the NOC actionable information instead of raw data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061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2D38E-8E3B-6204-AB14-2C6B42715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951" y="554710"/>
            <a:ext cx="9942409" cy="876193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From Raw Data to Intelligence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BC1950-EE28-8DDE-B066-9E788ADF7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8D6F-2B40-E74E-1CEB-AF0AF22DF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4E275-56EB-42ED-B931-7D5FC67B2063}" type="datetime1"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2536F6-F917-507B-3DA3-AE777A80A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36F260-ECC3-E235-C594-5C6557963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1432560"/>
            <a:ext cx="3907369" cy="50165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Telecom Activity Data -&gt; 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Data Ingestion -&gt; </a:t>
            </a:r>
          </a:p>
          <a:p>
            <a:r>
              <a:rPr lang="en-US" dirty="0">
                <a:ea typeface="+mn-lt"/>
                <a:cs typeface="+mn-lt"/>
              </a:rPr>
              <a:t>Data Cleaning &amp; Standardization -&gt;</a:t>
            </a:r>
          </a:p>
          <a:p>
            <a:r>
              <a:rPr lang="en-US" dirty="0">
                <a:ea typeface="+mn-lt"/>
                <a:cs typeface="+mn-lt"/>
              </a:rPr>
              <a:t> Spark Processing -&gt; </a:t>
            </a:r>
          </a:p>
          <a:p>
            <a:r>
              <a:rPr lang="en-US" dirty="0">
                <a:ea typeface="+mn-lt"/>
                <a:cs typeface="+mn-lt"/>
              </a:rPr>
              <a:t>MySQL Analytical Warehouse -&gt; 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ML Features -&gt; </a:t>
            </a:r>
          </a:p>
          <a:p>
            <a:r>
              <a:rPr lang="en-US" dirty="0">
                <a:ea typeface="+mn-lt"/>
                <a:cs typeface="+mn-lt"/>
              </a:rPr>
              <a:t>ML Prediction &amp; Anomaly Detection -&gt; </a:t>
            </a:r>
          </a:p>
          <a:p>
            <a:r>
              <a:rPr lang="en-US" dirty="0">
                <a:ea typeface="+mn-lt"/>
                <a:cs typeface="+mn-lt"/>
              </a:rPr>
              <a:t>API Layer -&gt; </a:t>
            </a:r>
          </a:p>
          <a:p>
            <a:r>
              <a:rPr lang="en-US" dirty="0">
                <a:ea typeface="+mn-lt"/>
                <a:cs typeface="+mn-lt"/>
              </a:rPr>
              <a:t>React Dashboard -&gt; </a:t>
            </a:r>
          </a:p>
          <a:p>
            <a:r>
              <a:rPr lang="en-US" dirty="0">
                <a:ea typeface="+mn-lt"/>
                <a:cs typeface="+mn-lt"/>
              </a:rPr>
              <a:t>Claude AI Assistant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D976D6C-5933-08CE-DFA2-63E02A8A30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64863"/>
              </p:ext>
            </p:extLst>
          </p:nvPr>
        </p:nvGraphicFramePr>
        <p:xfrm>
          <a:off x="4551680" y="2164080"/>
          <a:ext cx="7014346" cy="3200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07173">
                  <a:extLst>
                    <a:ext uri="{9D8B030D-6E8A-4147-A177-3AD203B41FA5}">
                      <a16:colId xmlns:a16="http://schemas.microsoft.com/office/drawing/2014/main" val="3797684459"/>
                    </a:ext>
                  </a:extLst>
                </a:gridCol>
                <a:gridCol w="3507173">
                  <a:extLst>
                    <a:ext uri="{9D8B030D-6E8A-4147-A177-3AD203B41FA5}">
                      <a16:colId xmlns:a16="http://schemas.microsoft.com/office/drawing/2014/main" val="3888557224"/>
                    </a:ext>
                  </a:extLst>
                </a:gridCol>
              </a:tblGrid>
              <a:tr h="342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Question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Component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479151"/>
                  </a:ext>
                </a:extLst>
              </a:tr>
              <a:tr h="342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What happened?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Spark / Analytics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337315"/>
                  </a:ext>
                </a:extLst>
              </a:tr>
              <a:tr h="342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Where?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GeoJSON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+ Map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971800"/>
                  </a:ext>
                </a:extLst>
              </a:tr>
              <a:tr h="342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Is it unusual?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Alerts / Anomaly Detection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569058"/>
                  </a:ext>
                </a:extLst>
              </a:tr>
              <a:tr h="342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How risky is it?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556938"/>
                  </a:ext>
                </a:extLst>
              </a:tr>
              <a:tr h="342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Is our data trustworthy?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Pipeline Status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9149"/>
                  </a:ext>
                </a:extLst>
              </a:tr>
              <a:tr h="342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What should I investigate?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Claude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113068"/>
                  </a:ext>
                </a:extLst>
              </a:tr>
              <a:tr h="342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Why does Claude believe that?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Tool calls + Evidence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461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94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0D52C-D1D9-B07C-192E-F18967B10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554710"/>
            <a:ext cx="9942409" cy="876193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Six </a:t>
            </a:r>
            <a:r>
              <a:rPr lang="en-US" dirty="0" err="1">
                <a:ea typeface="+mj-lt"/>
                <a:cs typeface="+mj-lt"/>
              </a:rPr>
              <a:t>behavioural</a:t>
            </a:r>
            <a:r>
              <a:rPr lang="en-US" dirty="0">
                <a:ea typeface="+mj-lt"/>
                <a:cs typeface="+mj-lt"/>
              </a:rPr>
              <a:t> features 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8CAE0-862F-B95A-2728-3AC88E33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D8203-AB72-35E8-F7AF-83942E4B1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9762B-9BEA-44EF-9B63-5371B1157802}" type="datetime1"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D7A142-9E43-479E-ED07-C11190552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41CDC2-8C64-E2E2-1708-C71618E11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1188720"/>
            <a:ext cx="6823289" cy="447802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300" b="1" dirty="0">
                <a:ea typeface="+mn-lt"/>
                <a:cs typeface="+mn-lt"/>
              </a:rPr>
              <a:t>Average Activity</a:t>
            </a:r>
            <a:endParaRPr lang="en-US" sz="1300"/>
          </a:p>
          <a:p>
            <a:r>
              <a:rPr lang="en-US" sz="1300" dirty="0">
                <a:ea typeface="+mn-lt"/>
                <a:cs typeface="+mn-lt"/>
              </a:rPr>
              <a:t>How active has the grid been recently?</a:t>
            </a:r>
            <a:endParaRPr lang="en-US" sz="1300"/>
          </a:p>
          <a:p>
            <a:r>
              <a:rPr lang="en-US" sz="1300" b="1" dirty="0">
                <a:ea typeface="+mn-lt"/>
                <a:cs typeface="+mn-lt"/>
              </a:rPr>
              <a:t>Activity Growth</a:t>
            </a:r>
            <a:endParaRPr lang="en-US" sz="1300"/>
          </a:p>
          <a:p>
            <a:r>
              <a:rPr lang="en-US" sz="1300" dirty="0">
                <a:ea typeface="+mn-lt"/>
                <a:cs typeface="+mn-lt"/>
              </a:rPr>
              <a:t>Is activity increasing compared with the previous period?</a:t>
            </a:r>
            <a:endParaRPr lang="en-US" sz="1300"/>
          </a:p>
          <a:p>
            <a:r>
              <a:rPr lang="en-US" sz="1300" b="1" dirty="0">
                <a:ea typeface="+mn-lt"/>
                <a:cs typeface="+mn-lt"/>
              </a:rPr>
              <a:t>Active Hours</a:t>
            </a:r>
            <a:endParaRPr lang="en-US" sz="1300"/>
          </a:p>
          <a:p>
            <a:r>
              <a:rPr lang="en-US" sz="1300" dirty="0">
                <a:ea typeface="+mn-lt"/>
                <a:cs typeface="+mn-lt"/>
              </a:rPr>
              <a:t>How consistently active is the grid?</a:t>
            </a:r>
            <a:endParaRPr lang="en-US" sz="1300"/>
          </a:p>
          <a:p>
            <a:r>
              <a:rPr lang="en-US" sz="1300" b="1" dirty="0">
                <a:ea typeface="+mn-lt"/>
                <a:cs typeface="+mn-lt"/>
              </a:rPr>
              <a:t>Peak Ratio</a:t>
            </a:r>
            <a:endParaRPr lang="en-US" sz="1300"/>
          </a:p>
          <a:p>
            <a:r>
              <a:rPr lang="en-US" sz="1300" dirty="0">
                <a:ea typeface="+mn-lt"/>
                <a:cs typeface="+mn-lt"/>
              </a:rPr>
              <a:t>How strong are peaks compared with the average?</a:t>
            </a:r>
            <a:endParaRPr lang="en-US" sz="1300"/>
          </a:p>
          <a:p>
            <a:r>
              <a:rPr lang="en-US" sz="1300" b="1" dirty="0">
                <a:ea typeface="+mn-lt"/>
                <a:cs typeface="+mn-lt"/>
              </a:rPr>
              <a:t>Variability</a:t>
            </a:r>
            <a:endParaRPr lang="en-US" sz="1300"/>
          </a:p>
          <a:p>
            <a:r>
              <a:rPr lang="en-US" sz="1300" dirty="0">
                <a:ea typeface="+mn-lt"/>
                <a:cs typeface="+mn-lt"/>
              </a:rPr>
              <a:t>How much does activity fluctuate?</a:t>
            </a:r>
            <a:endParaRPr lang="en-US" sz="1300"/>
          </a:p>
          <a:p>
            <a:r>
              <a:rPr lang="en-US" sz="1300" b="1" dirty="0">
                <a:ea typeface="+mn-lt"/>
                <a:cs typeface="+mn-lt"/>
              </a:rPr>
              <a:t>Internet Share</a:t>
            </a:r>
            <a:endParaRPr lang="en-US" sz="1300"/>
          </a:p>
          <a:p>
            <a:r>
              <a:rPr lang="en-US" sz="1300" dirty="0">
                <a:ea typeface="+mn-lt"/>
                <a:cs typeface="+mn-lt"/>
              </a:rPr>
              <a:t>How much of the activity comes from internet usage?</a:t>
            </a:r>
            <a:endParaRPr lang="en-US" sz="1300"/>
          </a:p>
          <a:p>
            <a:r>
              <a:rPr lang="en-US" sz="2300" dirty="0"/>
              <a:t>Plus time-of-day features</a:t>
            </a:r>
          </a:p>
          <a:p>
            <a:r>
              <a:rPr lang="en-US" sz="1300" dirty="0">
                <a:latin typeface="Consolas"/>
              </a:rPr>
              <a:t>hour_sin
</a:t>
            </a:r>
            <a:r>
              <a:rPr lang="en-US" sz="1300" dirty="0" err="1">
                <a:latin typeface="Consolas"/>
              </a:rPr>
              <a:t>hour_cos</a:t>
            </a:r>
            <a:endParaRPr lang="en-US" sz="130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224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A29E8-A972-A34B-38A6-D4573E8ED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60" y="546608"/>
            <a:ext cx="8382000" cy="701657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NOC Dashboard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29754D-CD9F-E8FB-1EBB-E7C660AFF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CFEE2-C5F2-4D4E-B675-208CC081D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9DAB6-BA89-45E3-9BFF-03FFFD6B3C0C}" type="datetime1"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3D8A07-20CC-BFB8-9E51-89829F706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D04280-9015-65DD-69E0-016A015A8F4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1640" y="1249998"/>
            <a:ext cx="4924425" cy="43481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 dirty="0"/>
              <a:t>One Operational View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The React dashboard brings the different intelligence layers together.</a:t>
            </a:r>
            <a:endParaRPr lang="en-US" sz="1600" dirty="0"/>
          </a:p>
          <a:p>
            <a:r>
              <a:rPr lang="en-US" sz="1600" b="1" dirty="0"/>
              <a:t>Dashboard capabilities:</a:t>
            </a:r>
          </a:p>
          <a:p>
            <a:r>
              <a:rPr lang="en-US" sz="1600" b="1" dirty="0">
                <a:ea typeface="+mn-lt"/>
                <a:cs typeface="+mn-lt"/>
              </a:rPr>
              <a:t>Network Overview</a:t>
            </a:r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Total activity </a:t>
            </a:r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Active grids </a:t>
            </a:r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Network statistics </a:t>
            </a:r>
            <a:endParaRPr lang="en-US" sz="1600" dirty="0"/>
          </a:p>
          <a:p>
            <a:r>
              <a:rPr lang="en-US" sz="1600" b="1" dirty="0">
                <a:ea typeface="+mn-lt"/>
                <a:cs typeface="+mn-lt"/>
              </a:rPr>
              <a:t>Grid Monitoring</a:t>
            </a:r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Individual grid activity </a:t>
            </a:r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Historical </a:t>
            </a:r>
            <a:r>
              <a:rPr lang="en-US" sz="1600" dirty="0" err="1">
                <a:ea typeface="+mn-lt"/>
                <a:cs typeface="+mn-lt"/>
              </a:rPr>
              <a:t>behaviour</a:t>
            </a:r>
            <a:r>
              <a:rPr lang="en-US" sz="1600" dirty="0">
                <a:ea typeface="+mn-lt"/>
                <a:cs typeface="+mn-lt"/>
              </a:rPr>
              <a:t> </a:t>
            </a:r>
            <a:endParaRPr lang="en-US" sz="1600" dirty="0"/>
          </a:p>
          <a:p>
            <a:r>
              <a:rPr lang="en-US" sz="1600" b="1" dirty="0"/>
              <a:t>Hotspots</a:t>
            </a:r>
            <a:endParaRPr lang="en-US" sz="1600" dirty="0"/>
          </a:p>
          <a:p>
            <a:pPr marL="285750" indent="-285750">
              <a:buFont typeface="Arial,Sans-Serif"/>
              <a:buChar char="•"/>
            </a:pPr>
            <a:r>
              <a:rPr lang="en-US" sz="1600" dirty="0"/>
              <a:t>Highest activity grids </a:t>
            </a:r>
          </a:p>
          <a:p>
            <a:pPr marL="285750" indent="-285750">
              <a:buFont typeface="Arial"/>
              <a:buChar char="•"/>
            </a:pPr>
            <a:endParaRPr lang="en-US" sz="1600" dirty="0"/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197ADB9-BEA0-57A0-EAFC-7CD3B0450BA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33464" y="2845118"/>
            <a:ext cx="4924425" cy="43481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 dirty="0"/>
              <a:t>Alerts</a:t>
            </a:r>
            <a:endParaRPr lang="en-US" sz="1600" dirty="0"/>
          </a:p>
          <a:p>
            <a:pPr marL="285750" indent="-285750">
              <a:buFont typeface="Arial,Sans-Serif"/>
              <a:buChar char="•"/>
            </a:pPr>
            <a:r>
              <a:rPr lang="en-US" sz="1600" dirty="0"/>
              <a:t>Network alerts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1600" dirty="0"/>
              <a:t>Historical anomalies </a:t>
            </a:r>
          </a:p>
          <a:p>
            <a:r>
              <a:rPr lang="en-US" sz="1600" b="1" dirty="0"/>
              <a:t>Predictive Risk</a:t>
            </a:r>
            <a:endParaRPr lang="en-US" sz="1600" dirty="0"/>
          </a:p>
          <a:p>
            <a:pPr marL="285750" indent="-285750">
              <a:buFont typeface="Arial,Sans-Serif"/>
              <a:buChar char="•"/>
            </a:pPr>
            <a:r>
              <a:rPr lang="en-US" sz="1600" dirty="0"/>
              <a:t>Select grid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1600" dirty="0"/>
              <a:t>Select timestamp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1600" dirty="0"/>
              <a:t>Receive ML prediction 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E45825-B352-A79E-2A6F-1C47ECB02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320" y="1983356"/>
            <a:ext cx="5476240" cy="288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26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DB9534-F3CC-D5C7-FE00-8D87E5637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8E0617-2CE7-81C7-7BCE-A94B4025F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C0E96-4A0A-4DC4-86EB-4C95DD65D2CF}" type="datetime1">
              <a:t>9/15/2026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08441-B33E-48D4-7D36-8D7D37430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710E59-E649-41F1-071B-4E8514DF2340}"/>
              </a:ext>
            </a:extLst>
          </p:cNvPr>
          <p:cNvSpPr txBox="1"/>
          <p:nvPr/>
        </p:nvSpPr>
        <p:spPr>
          <a:xfrm>
            <a:off x="860961" y="984662"/>
            <a:ext cx="6096000" cy="44976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600" b="1" i="0" u="none" strike="noStrike" baseline="0" dirty="0">
                <a:solidFill>
                  <a:srgbClr val="FFFFFF"/>
                </a:solidFill>
                <a:latin typeface="Neue Haas Grotesk Text Pro"/>
                <a:ea typeface="Segoe UI"/>
                <a:cs typeface="Segoe UI"/>
              </a:rPr>
              <a:t>Hotspots</a:t>
            </a:r>
            <a:r>
              <a:rPr lang="en-US" sz="1600" b="0" i="0" dirty="0">
                <a:solidFill>
                  <a:srgbClr val="FFFFFF"/>
                </a:solidFill>
                <a:latin typeface="Neue Haas Grotesk Text Pro"/>
                <a:ea typeface="Segoe UI"/>
                <a:cs typeface="Segoe UI"/>
              </a:rPr>
              <a:t>​</a:t>
            </a:r>
          </a:p>
          <a:p>
            <a:pPr marL="285750" lvl="0" indent="-285750" algn="l" rtl="0">
              <a:buFont typeface="Arial,Sans-Serif"/>
              <a:buChar char="•"/>
            </a:pPr>
            <a:r>
              <a:rPr lang="en-US" sz="1600" b="0" i="0" u="none" strike="noStrike" baseline="0" dirty="0">
                <a:solidFill>
                  <a:srgbClr val="FFFFFF"/>
                </a:solidFill>
                <a:latin typeface="Neue Haas Grotesk Text Pro"/>
                <a:ea typeface="Arial"/>
                <a:cs typeface="Arial"/>
              </a:rPr>
              <a:t>Highest activity grids </a:t>
            </a:r>
            <a:r>
              <a:rPr lang="en-US" sz="1600" b="0" i="0" dirty="0">
                <a:solidFill>
                  <a:srgbClr val="FFFFFF"/>
                </a:solidFill>
                <a:latin typeface="Neue Haas Grotesk Text Pro"/>
                <a:ea typeface="Arial"/>
                <a:cs typeface="Arial"/>
              </a:rPr>
              <a:t>​</a:t>
            </a:r>
          </a:p>
          <a:p>
            <a:pPr marL="285750" indent="-285750">
              <a:buFont typeface="Arial,Sans-Serif"/>
              <a:buChar char="•"/>
            </a:pPr>
            <a:endParaRPr lang="en-US" sz="1600" dirty="0">
              <a:cs typeface="Arial"/>
            </a:endParaRP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600" b="1" dirty="0">
                <a:cs typeface="Arial"/>
              </a:rPr>
              <a:t>Alerts</a:t>
            </a:r>
            <a:endParaRPr lang="en-US" sz="1600" dirty="0">
              <a:cs typeface="Arial"/>
            </a:endParaRP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1600" dirty="0">
                <a:cs typeface="Arial"/>
              </a:rPr>
              <a:t>Network alerts </a:t>
            </a: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1600" dirty="0">
                <a:cs typeface="Arial"/>
              </a:rPr>
              <a:t>Historical anomalies </a:t>
            </a: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,Sans-Serif"/>
              <a:buChar char="•"/>
            </a:pPr>
            <a:endParaRPr lang="en-US" sz="1600" dirty="0">
              <a:cs typeface="Arial"/>
            </a:endParaRP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600" b="1" dirty="0">
                <a:cs typeface="Arial"/>
              </a:rPr>
              <a:t>Predictive Risk</a:t>
            </a:r>
            <a:endParaRPr lang="en-US" sz="1600" dirty="0">
              <a:cs typeface="Arial"/>
            </a:endParaRP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1600" dirty="0">
                <a:cs typeface="Arial"/>
              </a:rPr>
              <a:t>Select grid </a:t>
            </a: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1600" dirty="0">
                <a:cs typeface="Arial"/>
              </a:rPr>
              <a:t>Select timestamp </a:t>
            </a: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1600" dirty="0">
                <a:cs typeface="Arial"/>
              </a:rPr>
              <a:t>Receive ML prediction</a:t>
            </a:r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10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38E0C-7052-345F-9068-113D4373A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Assistant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1DF8FD-C836-080C-A854-30B518D06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941A1-6F32-91B2-B31D-79606E662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2D15E-2745-4D53-A059-C728F8F3EC9E}" type="datetime1"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269E25-B156-33CA-58C8-FEB804E30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10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6A4E3E-8DC9-4A50-2F4B-3BB451E9D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dirty="0"/>
              <a:t>Claude-Powered Network Assistant</a:t>
            </a:r>
            <a:endParaRPr lang="en-US" sz="2000"/>
          </a:p>
          <a:p>
            <a:r>
              <a:rPr lang="en-US" dirty="0">
                <a:ea typeface="+mn-lt"/>
                <a:cs typeface="+mn-lt"/>
              </a:rPr>
              <a:t>Instead of forcing an operator to manually interpret multiple screens and datasets, the AI assistant provides a natural-language interface.</a:t>
            </a:r>
            <a:endParaRPr lang="en-US" dirty="0"/>
          </a:p>
          <a:p>
            <a:r>
              <a:rPr lang="en-US" b="1" dirty="0"/>
              <a:t>Example questions</a:t>
            </a:r>
          </a:p>
          <a:p>
            <a:r>
              <a:rPr lang="en-US" dirty="0">
                <a:ea typeface="+mn-lt"/>
                <a:cs typeface="+mn-lt"/>
              </a:rPr>
              <a:t>"Why is Grid 4821 high risk?"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"What happened to this grid historically?"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"Which grids should I investigate?"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"Is this activity unusual for this time of day?"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01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79E87-E3BB-47B6-F01F-EC66A61A8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233" y="758952"/>
            <a:ext cx="9590868" cy="1318306"/>
          </a:xfrm>
        </p:spPr>
        <p:txBody>
          <a:bodyPr/>
          <a:lstStyle/>
          <a:p>
            <a:r>
              <a:rPr lang="en-US" sz="5400" dirty="0">
                <a:ea typeface="+mj-lt"/>
                <a:cs typeface="+mj-lt"/>
              </a:rPr>
              <a:t>Value to Network Operations </a:t>
            </a:r>
            <a:endParaRPr lang="en-US" sz="5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398BB-B66F-7951-776E-6A720039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38823-8459-D350-4EE4-4D095A946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AC25A-9C9D-49A4-BB26-340BBC09844F}" type="datetime1"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2DCE95-5D26-D697-5EFD-6414FBD0C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11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44FDE-F098-ECF8-D14A-C73B855AF9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1709421"/>
            <a:ext cx="8801100" cy="29475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Faster detection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Quickly surface unusual areas.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Better prioritization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Focus operators on the grids that need attention.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Geographic awareness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Connect analytical results to physical locations.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Evidence-based investigation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Claude works from actual platform evidence.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Operational transparency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Pipeline health and uncertainty are visible instead of hidden.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383996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Film Burn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Film Burn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Film Bur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D87570FC-4836-4BB0-AAFD-165DAAA9EA26}" vid="{EE25A5E3-C8B7-4876-88F1-4A6AC5925E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Film Burn</vt:lpstr>
      <vt:lpstr>Network Operations &amp; Predictive Intelligence System</vt:lpstr>
      <vt:lpstr>The Problem </vt:lpstr>
      <vt:lpstr>The challenge</vt:lpstr>
      <vt:lpstr>PowerPoint Presentation</vt:lpstr>
      <vt:lpstr>The Product</vt:lpstr>
      <vt:lpstr>From Raw Data to Intelligence</vt:lpstr>
      <vt:lpstr>Six behavioural features </vt:lpstr>
      <vt:lpstr>NOC Dashboard</vt:lpstr>
      <vt:lpstr>PowerPoint Presentation</vt:lpstr>
      <vt:lpstr>AI Assistant</vt:lpstr>
      <vt:lpstr>Value to Network Operations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152</cp:revision>
  <dcterms:created xsi:type="dcterms:W3CDTF">2013-07-15T20:26:40Z</dcterms:created>
  <dcterms:modified xsi:type="dcterms:W3CDTF">2026-09-15T16:38:42Z</dcterms:modified>
</cp:coreProperties>
</file>