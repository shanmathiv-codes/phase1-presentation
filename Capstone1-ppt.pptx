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60" r:id="rId3"/>
    <p:sldId id="259" r:id="rId4"/>
    <p:sldId id="261" r:id="rId5"/>
    <p:sldId id="262" r:id="rId6"/>
    <p:sldId id="264" r:id="rId7"/>
    <p:sldId id="265" r:id="rId8"/>
    <p:sldId id="266" r:id="rId9"/>
    <p:sldId id="268" r:id="rId10"/>
    <p:sldId id="267" r:id="rId11"/>
    <p:sldId id="26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285" dt="2026-09-14T17:59:31.729"/>
    <p1510:client id="{2FF9E4B1-B823-4982-9A66-243D9BECF0D3}" v="1" dt="2026-09-14T17:08:48.014"/>
    <p1510:client id="{D8C750B5-FC1D-B6D7-78D0-A84DDD313137}" v="49" dt="2026-09-15T16:54:04.47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C8E832A1-AE20-595C-6C6A-C6CAD6D722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59" t="1529" r="16895" b="27442"/>
          <a:stretch>
            <a:fillRect/>
          </a:stretch>
        </p:blipFill>
        <p:spPr>
          <a:xfrm flipH="1">
            <a:off x="-27432" y="0"/>
            <a:ext cx="12219432" cy="68657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5259" y="1820486"/>
            <a:ext cx="4800600" cy="2762187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8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95260" y="4714821"/>
            <a:ext cx="3830874" cy="149661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5259" y="219456"/>
            <a:ext cx="2703777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35440" y="219456"/>
            <a:ext cx="149536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359139-99F8-4B6E-8834-95F2B9D91EE4}" type="datetimeFigureOut">
              <a:rPr lang="en-US" dirty="0"/>
              <a:pPr/>
              <a:t>9/15/2026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7654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17452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4BE14B8-5058-4271-B378-2217DE83796E}" type="datetimeFigureOut">
              <a:rPr lang="en-US" dirty="0"/>
              <a:pPr/>
              <a:t>9/15/2026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09042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6AC85073-6D22-76C5-C752-C565E9FBCC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6" t="10520" r="14652" b="11508"/>
          <a:stretch>
            <a:fillRect/>
          </a:stretch>
        </p:blipFill>
        <p:spPr>
          <a:xfrm flipH="1">
            <a:off x="-2" y="11899"/>
            <a:ext cx="12192001" cy="6865715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BF6CFC71-0CC0-F6AB-06FD-5F2DE2587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459253"/>
            <a:ext cx="5658468" cy="2691359"/>
          </a:xfrm>
        </p:spPr>
        <p:txBody>
          <a:bodyPr/>
          <a:lstStyle>
            <a:lvl1pPr>
              <a:defRPr sz="4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41932924-E87B-08A2-5EE3-BBA69699E2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62264" y="516600"/>
            <a:ext cx="2593814" cy="162788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2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62265" y="219456"/>
            <a:ext cx="2504049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63200" y="219456"/>
            <a:ext cx="1146383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79FB602-DB7A-4B0E-854D-FB51F38BB0AA}" type="datetimeFigureOut">
              <a:rPr lang="en-US" dirty="0"/>
              <a:pPr/>
              <a:t>9/15/2026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06961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0"/>
            <a:ext cx="12188952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tIns="365760" anchor="t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7EB34FF5-770C-AA64-B806-5D6DED711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463843"/>
            <a:ext cx="12188952" cy="2394157"/>
          </a:xfrm>
          <a:gradFill>
            <a:gsLst>
              <a:gs pos="31000">
                <a:srgbClr val="000000">
                  <a:alpha val="30000"/>
                </a:srgbClr>
              </a:gs>
              <a:gs pos="87000">
                <a:srgbClr val="000000">
                  <a:alpha val="60000"/>
                </a:srgbClr>
              </a:gs>
              <a:gs pos="0">
                <a:srgbClr val="000000">
                  <a:alpha val="0"/>
                </a:srgbClr>
              </a:gs>
            </a:gsLst>
            <a:lin ang="5400000" scaled="0"/>
          </a:gradFill>
        </p:spPr>
        <p:txBody>
          <a:bodyPr lIns="502920" tIns="0" rIns="5029200" bIns="365760" anchor="b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49132BB0-A42B-7355-8046-F22B2344C6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01099" y="4463843"/>
            <a:ext cx="3387853" cy="2394157"/>
          </a:xfrm>
        </p:spPr>
        <p:txBody>
          <a:bodyPr vert="horz" lIns="137160" tIns="365760" rIns="0" bIns="457200" rtlCol="0" anchor="b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37656" y="219456"/>
            <a:ext cx="2740616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8866095" y="219456"/>
            <a:ext cx="1957990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560963-1EEA-4BDE-8FF9-3FEE13B5D43C}" type="datetimeFigureOut">
              <a:rPr lang="en-US" dirty="0"/>
              <a:pPr/>
              <a:t>9/15/2026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62195" y="219456"/>
            <a:ext cx="448805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E0677F5-4A8A-4BF1-96BE-3BAE8FBAFE2E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89936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6F838A51-B977-1664-089F-3B2250DFEF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8117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9980" y="4311805"/>
            <a:ext cx="8585337" cy="2368300"/>
          </a:xfrm>
        </p:spPr>
        <p:txBody>
          <a:bodyPr anchor="b">
            <a:normAutofit/>
          </a:bodyPr>
          <a:lstStyle>
            <a:lvl1pPr>
              <a:defRPr sz="6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65617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9456"/>
            <a:ext cx="19132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1006E0F-42A5-451E-8A36-26756F7C34E0}" type="datetimeFigureOut">
              <a:rPr lang="en-US" dirty="0"/>
              <a:pPr/>
              <a:t>9/15/2026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8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27614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D09BF41B-6D10-9A6E-03E4-5E7320A61D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2"/>
            <a:ext cx="12192000" cy="28690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68" y="2138776"/>
            <a:ext cx="6433266" cy="1962149"/>
          </a:xfrm>
        </p:spPr>
        <p:txBody>
          <a:bodyPr anchor="t">
            <a:normAutofit/>
          </a:bodyPr>
          <a:lstStyle>
            <a:lvl1pPr>
              <a:defRPr sz="88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53300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2922ABD-C052-4D3A-818B-C58AFC20B321}" type="datetimeFigureOut">
              <a:rPr lang="en-US" dirty="0"/>
              <a:pPr/>
              <a:t>9/15/2026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53301" y="2138776"/>
            <a:ext cx="3718420" cy="4109624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700581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red and yellow light&#10;&#10;AI-generated content may be incorrect.">
            <a:extLst>
              <a:ext uri="{FF2B5EF4-FFF2-40B4-BE49-F238E27FC236}">
                <a16:creationId xmlns:a16="http://schemas.microsoft.com/office/drawing/2014/main" id="{BD349A90-08FB-AFC0-8649-56404DF7B8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109"/>
          <a:stretch>
            <a:fillRect/>
          </a:stretch>
        </p:blipFill>
        <p:spPr>
          <a:xfrm rot="10800000" flipH="1">
            <a:off x="-9982" y="2555751"/>
            <a:ext cx="12192000" cy="43439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852" y="3481713"/>
            <a:ext cx="5496426" cy="2092272"/>
          </a:xfrm>
        </p:spPr>
        <p:txBody>
          <a:bodyPr anchor="t">
            <a:normAutofit/>
          </a:bodyPr>
          <a:lstStyle>
            <a:lvl1pPr>
              <a:defRPr sz="7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43EA2DD-B019-E3AA-ACB7-13CC3353E8D4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0" y="0"/>
            <a:ext cx="12192000" cy="2555751"/>
          </a:xfrm>
          <a:blipFill>
            <a:blip r:embed="rId3">
              <a:alphaModFix amt="65000"/>
            </a:blip>
            <a:stretch>
              <a:fillRect/>
            </a:stretch>
          </a:blipFill>
        </p:spPr>
        <p:txBody>
          <a:bodyPr anchor="t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3660" y="2734068"/>
            <a:ext cx="272733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85567" y="2734068"/>
            <a:ext cx="158671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48FC9B1-6F61-4A8F-9F5E-715654075A93}" type="datetimeFigureOut">
              <a:rPr lang="en-US" dirty="0"/>
              <a:pPr/>
              <a:t>9/15/2026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6614" y="2734068"/>
            <a:ext cx="52669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785567" y="3481713"/>
            <a:ext cx="3916103" cy="2765887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marL="228600" lvl="0" indent="-228600"/>
            <a:r>
              <a:rPr lang="en-US" dirty="0"/>
              <a:t>Click to edit Master text styles</a:t>
            </a:r>
          </a:p>
          <a:p>
            <a:pPr marL="228600" lvl="1" indent="-228600"/>
            <a:r>
              <a:rPr lang="en-US" dirty="0"/>
              <a:t>Second level</a:t>
            </a:r>
          </a:p>
          <a:p>
            <a:pPr marL="228600" lvl="2" indent="-228600"/>
            <a:r>
              <a:rPr lang="en-US" dirty="0"/>
              <a:t>Third level</a:t>
            </a:r>
          </a:p>
          <a:p>
            <a:pPr marL="228600" lvl="3" indent="-228600"/>
            <a:r>
              <a:rPr lang="en-US" dirty="0"/>
              <a:t>Fourth level</a:t>
            </a:r>
          </a:p>
          <a:p>
            <a:pPr marL="228600" lvl="4" indent="-228600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974443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A purple and black background&#10;&#10;AI-generated content may be incorrect.">
            <a:extLst>
              <a:ext uri="{FF2B5EF4-FFF2-40B4-BE49-F238E27FC236}">
                <a16:creationId xmlns:a16="http://schemas.microsoft.com/office/drawing/2014/main" id="{518E8C82-2B1B-76C7-A67D-099AEEEAD0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09"/>
          <a:stretch>
            <a:fillRect/>
          </a:stretch>
        </p:blipFill>
        <p:spPr>
          <a:xfrm>
            <a:off x="6324601" y="1"/>
            <a:ext cx="5881254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851" y="1276990"/>
            <a:ext cx="5378267" cy="985658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418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4BE14B8-5058-4271-B378-2217DE83796E}" type="datetimeFigureOut">
              <a:rPr lang="en-US" dirty="0"/>
              <a:pPr/>
              <a:t>9/15/2026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0295" y="21485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477" y="2471736"/>
            <a:ext cx="5378268" cy="366273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12747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E41EB56E-DF88-E5AB-35AF-891395DCDB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4406900"/>
            <a:ext cx="9144000" cy="24511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899" y="1886712"/>
            <a:ext cx="3507989" cy="3233928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08394"/>
            <a:ext cx="253211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67400" y="208394"/>
            <a:ext cx="20175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6CB2F34-49A1-4C07-91D5-90BE967306D3}" type="datetimeFigureOut">
              <a:rPr lang="en-US" dirty="0"/>
              <a:pPr/>
              <a:t>9/15/2026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6588" y="208394"/>
            <a:ext cx="5531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67401" y="1886712"/>
            <a:ext cx="4495800" cy="32339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>
                <a:solidFill>
                  <a:schemeClr val="tx1"/>
                </a:solidFill>
              </a:defRPr>
            </a:lvl1pPr>
            <a:lvl2pPr>
              <a:defRPr lang="en-US">
                <a:solidFill>
                  <a:schemeClr val="tx1"/>
                </a:solidFill>
              </a:defRPr>
            </a:lvl2pPr>
            <a:lvl3pPr>
              <a:defRPr lang="en-US">
                <a:solidFill>
                  <a:schemeClr val="tx1"/>
                </a:solidFill>
              </a:defRPr>
            </a:lvl3pPr>
            <a:lvl4pPr>
              <a:defRPr lang="en-US">
                <a:solidFill>
                  <a:schemeClr val="tx1"/>
                </a:solidFill>
              </a:defRPr>
            </a:lvl4pPr>
            <a:lvl5pPr>
              <a:defRPr lang="en-US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391009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436" y="1115568"/>
            <a:ext cx="2505264" cy="1624122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684048" cy="338328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74064" y="215823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14EE7FE5-A250-423F-B9E1-3EE5D07A8055}" type="datetimeFigureOut">
              <a:rPr lang="en-US" dirty="0"/>
              <a:t>9/15/2026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242" y="215823"/>
            <a:ext cx="549272" cy="338328"/>
          </a:xfrm>
        </p:spPr>
        <p:txBody>
          <a:bodyPr/>
          <a:lstStyle/>
          <a:p>
            <a:fld id="{8E274F5D-21DC-40EF-8DBA-AB9BB119E939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8436" y="3028523"/>
            <a:ext cx="2505264" cy="341037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B2531DA-E07E-34C2-010B-27DB8B004926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3374064" y="1181100"/>
            <a:ext cx="8817936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 anchor="t"/>
          <a:lstStyle>
            <a:lvl1pPr>
              <a:defRPr/>
            </a:lvl1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046221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4000500" cy="1352516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727930" cy="338328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47899" y="219456"/>
            <a:ext cx="1747774" cy="338328"/>
          </a:xfrm>
        </p:spPr>
        <p:txBody>
          <a:bodyPr/>
          <a:lstStyle/>
          <a:p>
            <a:fld id="{48B2456C-66BE-435E-8059-3A9CD55F29F9}" type="datetimeFigureOut">
              <a:rPr lang="en-US" dirty="0"/>
              <a:t>9/15/2026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3948" y="216280"/>
            <a:ext cx="551113" cy="338328"/>
          </a:xfrm>
        </p:spPr>
        <p:txBody>
          <a:bodyPr/>
          <a:lstStyle/>
          <a:p>
            <a:fld id="{8E274F5D-21DC-40EF-8DBA-AB9BB119E939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7899" y="1104900"/>
            <a:ext cx="6925002" cy="1352516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None/>
              <a:defRPr sz="1400"/>
            </a:lvl1pPr>
            <a:lvl2pPr marL="514350" indent="-285750">
              <a:buFont typeface="Arial" panose="020B0604020202020204" pitchFamily="34" charset="0"/>
              <a:buNone/>
              <a:defRPr sz="1400"/>
            </a:lvl2pPr>
            <a:lvl3pPr marL="742950" indent="-28575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None/>
              <a:defRPr sz="1400"/>
            </a:lvl4pPr>
            <a:lvl5pPr marL="1085850" indent="-17145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46877B-7C99-D26C-DFEC-72A4289A8FAC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0" y="2938509"/>
            <a:ext cx="12192000" cy="3919491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anchor="t"/>
          <a:lstStyle>
            <a:lvl1pPr>
              <a:defRPr/>
            </a:lvl1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930962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2514600" cy="2918919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5146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EB6A322-B3CC-9AE7-DB63-8B433811BD63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3423747" y="0"/>
            <a:ext cx="8768253" cy="3985719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anchor="t"/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800" y="4077628"/>
            <a:ext cx="1920240" cy="338328"/>
          </a:xfrm>
        </p:spPr>
        <p:txBody>
          <a:bodyPr/>
          <a:lstStyle/>
          <a:p>
            <a:fld id="{17409D93-5111-4952-AC4F-FA1AE909A4B8}" type="datetimeFigureOut">
              <a:rPr lang="en-US" dirty="0"/>
              <a:t>9/15/2026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407762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E274F5D-21DC-40EF-8DBA-AB9BB119E939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800" y="4423576"/>
            <a:ext cx="8420100" cy="1824824"/>
          </a:xfrm>
        </p:spPr>
        <p:txBody>
          <a:bodyPr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174273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1339" y="1115568"/>
            <a:ext cx="5247577" cy="994131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933700" cy="338328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96579" y="209088"/>
            <a:ext cx="184404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A43E10B2-AFF3-4A4A-BC83-5BB137C878CB}" type="datetimeFigureOut">
              <a:rPr lang="en-US" dirty="0"/>
              <a:t>9/15/2026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34185" y="209088"/>
            <a:ext cx="555948" cy="338328"/>
          </a:xfrm>
        </p:spPr>
        <p:txBody>
          <a:bodyPr/>
          <a:lstStyle/>
          <a:p>
            <a:fld id="{8E274F5D-21DC-40EF-8DBA-AB9BB119E939}" type="slidenum">
              <a:rPr lang="en-US" dirty="0"/>
              <a:t>‹#›</a:t>
            </a:fld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3BFBE8F-8803-50FD-04BC-3A247F9767CF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0" y="1181100"/>
            <a:ext cx="5247577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 anchor="t"/>
          <a:lstStyle>
            <a:lvl1pPr>
              <a:defRPr/>
            </a:lvl1pPr>
          </a:lstStyle>
          <a:p>
            <a:endParaRPr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881339" y="2133600"/>
            <a:ext cx="5247577" cy="4114800"/>
          </a:xfrm>
        </p:spPr>
        <p:txBody>
          <a:bodyPr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318053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57" y="1115568"/>
            <a:ext cx="3607670" cy="3170545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4858"/>
            <a:ext cx="2597106" cy="338328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45909" y="214858"/>
            <a:ext cx="1586711" cy="338328"/>
          </a:xfrm>
        </p:spPr>
        <p:txBody>
          <a:bodyPr/>
          <a:lstStyle/>
          <a:p>
            <a:fld id="{C1935215-257D-4F50-AF56-70E3294947FA}" type="datetimeFigureOut">
              <a:rPr lang="en-US" dirty="0"/>
              <a:t>9/15/2026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7610" y="214858"/>
            <a:ext cx="555948" cy="338328"/>
          </a:xfrm>
        </p:spPr>
        <p:txBody>
          <a:bodyPr/>
          <a:lstStyle/>
          <a:p>
            <a:fld id="{8E274F5D-21DC-40EF-8DBA-AB9BB119E939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5909" y="1112672"/>
            <a:ext cx="6926991" cy="196780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21707E4-5122-AA3B-7CFC-6AF9C0BAC463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4903079" y="3500203"/>
            <a:ext cx="7288921" cy="3357797"/>
          </a:xfrm>
          <a:custGeom>
            <a:avLst/>
            <a:gdLst/>
            <a:ahLst/>
            <a:cxnLst/>
            <a:rect l="l" t="t" r="r" b="b"/>
            <a:pathLst>
              <a:path w="7391400" h="3018269">
                <a:moveTo>
                  <a:pt x="0" y="0"/>
                </a:moveTo>
                <a:lnTo>
                  <a:pt x="7391400" y="0"/>
                </a:lnTo>
                <a:lnTo>
                  <a:pt x="7391400" y="3018269"/>
                </a:lnTo>
                <a:lnTo>
                  <a:pt x="0" y="3018269"/>
                </a:lnTo>
                <a:close/>
              </a:path>
            </a:pathLst>
          </a:cu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 anchor="t">
            <a:noAutofit/>
          </a:bodyPr>
          <a:lstStyle>
            <a:lvl1pPr marL="0" indent="0">
              <a:buNone/>
              <a:defRPr/>
            </a:lvl1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521503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3429001"/>
            <a:ext cx="2501307" cy="2551982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02C8AD-A927-B946-5850-6500487D6883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0" y="1"/>
            <a:ext cx="12192000" cy="270509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anchor="t"/>
          <a:lstStyle>
            <a:lvl1pPr>
              <a:defRPr/>
            </a:lvl1pPr>
          </a:lstStyle>
          <a:p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865290"/>
            <a:ext cx="2726376" cy="338328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799" y="2865290"/>
            <a:ext cx="1967345" cy="338328"/>
          </a:xfrm>
        </p:spPr>
        <p:txBody>
          <a:bodyPr/>
          <a:lstStyle/>
          <a:p>
            <a:fld id="{2B0E3CDF-6E7C-4C67-B567-8606B07963A0}" type="datetimeFigureOut">
              <a:rPr lang="en-US" dirty="0"/>
              <a:t>9/15/2026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865290"/>
            <a:ext cx="555948" cy="338328"/>
          </a:xfrm>
        </p:spPr>
        <p:txBody>
          <a:bodyPr/>
          <a:lstStyle/>
          <a:p>
            <a:fld id="{8E274F5D-21DC-40EF-8DBA-AB9BB119E939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800" y="3429000"/>
            <a:ext cx="8210204" cy="300990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960717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230" y="1115568"/>
            <a:ext cx="3603256" cy="1409878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8700" y="209088"/>
            <a:ext cx="2514600" cy="338328"/>
          </a:xfrm>
        </p:spPr>
        <p:txBody>
          <a:bodyPr/>
          <a:lstStyle/>
          <a:p>
            <a:fld id="{5060FE60-4389-4D8B-84BB-900FC000024C}" type="datetimeFigureOut">
              <a:rPr lang="en-US" dirty="0"/>
              <a:t>9/15/2026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6019" y="219456"/>
            <a:ext cx="56434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E274F5D-21DC-40EF-8DBA-AB9BB119E939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6230" y="2705100"/>
            <a:ext cx="3603256" cy="3695700"/>
          </a:xfrm>
        </p:spPr>
        <p:txBody>
          <a:bodyPr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83D1CED-EDC4-B2B7-E11C-EF0ED41A9136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4935269" y="1175658"/>
            <a:ext cx="7256731" cy="5682342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anchor="t"/>
          <a:lstStyle>
            <a:lvl1pPr>
              <a:defRPr/>
            </a:lvl1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0282533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607626"/>
            <a:ext cx="4419600" cy="1640774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4508209-B462-E74A-288F-8910B06DE3A1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1914" y="0"/>
            <a:ext cx="4836786" cy="421419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anchor="t"/>
          <a:lstStyle>
            <a:lvl1pPr>
              <a:defRPr/>
            </a:lvl1pPr>
          </a:lstStyle>
          <a:p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41275" y="209088"/>
            <a:ext cx="2726376" cy="338328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0525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6709B22-BFE8-4BFE-80D5-4133DC0C2AC6}" type="datetimeFigureOut">
              <a:rPr lang="en-US" dirty="0"/>
              <a:t>9/15/2026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41276" y="1104900"/>
            <a:ext cx="5750381" cy="51435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64391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3105335" cy="1636510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55522" y="214858"/>
            <a:ext cx="2536988" cy="338328"/>
          </a:xfrm>
        </p:spPr>
        <p:txBody>
          <a:bodyPr/>
          <a:lstStyle/>
          <a:p>
            <a:fld id="{BFCE55E5-7E1C-4243-A685-91A6EB8BE97F}" type="datetimeFigureOut">
              <a:rPr lang="en-US" dirty="0"/>
              <a:t>9/15/2026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2840" y="214858"/>
            <a:ext cx="555948" cy="338328"/>
          </a:xfrm>
        </p:spPr>
        <p:txBody>
          <a:bodyPr/>
          <a:lstStyle/>
          <a:p>
            <a:fld id="{8E274F5D-21DC-40EF-8DBA-AB9BB119E939}" type="slidenum">
              <a:rPr lang="en-US" dirty="0"/>
              <a:t>‹#›</a:t>
            </a:fld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A8D0EC2-AB64-20F7-00E1-73B35DEAA2D7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1" y="3017520"/>
            <a:ext cx="3417902" cy="384048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 anchor="t"/>
          <a:lstStyle>
            <a:lvl1pPr>
              <a:defRPr/>
            </a:lvl1pPr>
          </a:lstStyle>
          <a:p>
            <a:endParaRPr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55522" y="1104901"/>
            <a:ext cx="7476571" cy="533399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614624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C26FEAF5-B987-7B83-7D1F-A4C535E2B0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701" r="5781"/>
          <a:stretch>
            <a:fillRect/>
          </a:stretch>
        </p:blipFill>
        <p:spPr>
          <a:xfrm rot="10800000" flipH="1">
            <a:off x="0" y="-1"/>
            <a:ext cx="12192000" cy="6864096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E9DD887D-B316-418B-8AF4-4F941223A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0" y="5082379"/>
            <a:ext cx="4000500" cy="1169230"/>
          </a:xfrm>
        </p:spPr>
        <p:txBody>
          <a:bodyPr anchor="b">
            <a:normAutofit/>
          </a:bodyPr>
          <a:lstStyle>
            <a:lvl1pPr>
              <a:defRPr sz="2000" spc="-5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72400" y="209088"/>
            <a:ext cx="197069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5AFD96D-C3CB-4F44-8CE3-582861660F11}" type="datetimeFigureOut">
              <a:rPr lang="en-US" dirty="0"/>
              <a:pPr/>
              <a:t>9/15/2026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942D9118-C154-84FE-9D86-92525287F07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280988" y="1063625"/>
            <a:ext cx="10428287" cy="3508375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26000"/>
            </a:lvl1pPr>
          </a:lstStyle>
          <a:p>
            <a:pPr lvl="0"/>
            <a:r>
              <a:rPr lang="en-US" dirty="0"/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211260397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red and purple light&#10;&#10;AI-generated content may be incorrect.">
            <a:extLst>
              <a:ext uri="{FF2B5EF4-FFF2-40B4-BE49-F238E27FC236}">
                <a16:creationId xmlns:a16="http://schemas.microsoft.com/office/drawing/2014/main" id="{27A6C04A-3EE2-7293-8111-E4CF6B18B2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84" t="57458" r="22221" b="1"/>
          <a:stretch>
            <a:fillRect/>
          </a:stretch>
        </p:blipFill>
        <p:spPr>
          <a:xfrm rot="10800000">
            <a:off x="0" y="0"/>
            <a:ext cx="12192000" cy="480281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3332489-DC9C-40A3-89C4-AFC56B3B0CAB}" type="datetimeFigureOut">
              <a:rPr lang="en-US" dirty="0"/>
              <a:pPr/>
              <a:t>9/15/2026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19099" y="2885606"/>
            <a:ext cx="8801101" cy="3553293"/>
          </a:xfrm>
        </p:spPr>
        <p:txBody>
          <a:bodyPr anchor="b">
            <a:normAutofit/>
          </a:bodyPr>
          <a:lstStyle>
            <a:lvl1pPr marL="0" indent="0">
              <a:lnSpc>
                <a:spcPct val="85000"/>
              </a:lnSpc>
              <a:buNone/>
              <a:defRPr sz="6000" b="0" spc="-50" baseline="0">
                <a:solidFill>
                  <a:schemeClr val="tx1"/>
                </a:solidFill>
              </a:defRPr>
            </a:lvl1pPr>
            <a:lvl2pPr marL="228600" indent="0">
              <a:lnSpc>
                <a:spcPct val="85000"/>
              </a:lnSpc>
              <a:buNone/>
              <a:defRPr sz="4400" b="0" spc="-50" baseline="0">
                <a:solidFill>
                  <a:schemeClr val="tx1"/>
                </a:solidFill>
              </a:defRPr>
            </a:lvl2pPr>
            <a:lvl3pPr marL="457200" indent="0">
              <a:lnSpc>
                <a:spcPct val="85000"/>
              </a:lnSpc>
              <a:buNone/>
              <a:defRPr sz="4000" b="0" spc="-50" baseline="0">
                <a:solidFill>
                  <a:schemeClr val="tx1"/>
                </a:solidFill>
              </a:defRPr>
            </a:lvl3pPr>
            <a:lvl4pPr marL="685800" indent="0">
              <a:lnSpc>
                <a:spcPct val="85000"/>
              </a:lnSpc>
              <a:buNone/>
              <a:defRPr sz="3600" b="0" spc="-50" baseline="0">
                <a:solidFill>
                  <a:schemeClr val="tx1"/>
                </a:solidFill>
              </a:defRPr>
            </a:lvl4pPr>
            <a:lvl5pPr marL="914400" indent="0">
              <a:lnSpc>
                <a:spcPct val="85000"/>
              </a:lnSpc>
              <a:buNone/>
              <a:defRPr sz="3200" b="0" spc="-50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4280547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56ABB8EC-1098-DCAC-E2E3-BCA53EEC62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1" t="22024" r="10011"/>
          <a:stretch>
            <a:fillRect/>
          </a:stretch>
        </p:blipFill>
        <p:spPr>
          <a:xfrm rot="10800000" flipH="1">
            <a:off x="0" y="0"/>
            <a:ext cx="12192000" cy="686409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899" y="4874218"/>
            <a:ext cx="8506567" cy="666427"/>
          </a:xfrm>
        </p:spPr>
        <p:txBody>
          <a:bodyPr anchor="ctr">
            <a:normAutofit/>
          </a:bodyPr>
          <a:lstStyle>
            <a:lvl1pPr algn="r">
              <a:lnSpc>
                <a:spcPct val="90000"/>
              </a:lnSpc>
              <a:defRPr sz="1400" b="0" cap="all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403F4C9-1C82-4616-8D26-0B0587291200}" type="datetimeFigureOut">
              <a:rPr lang="en-US" dirty="0"/>
              <a:pPr/>
              <a:t>9/15/2026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6899" y="1856096"/>
            <a:ext cx="8506567" cy="2855388"/>
          </a:xfrm>
        </p:spPr>
        <p:txBody>
          <a:bodyPr anchor="ctr">
            <a:normAutofit/>
          </a:bodyPr>
          <a:lstStyle>
            <a:lvl1pPr marL="164592" indent="-164592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5000" spc="-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118733662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8382000" cy="70165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38C42AE-61C6-458B-86C3-22D39A5E8956}" type="datetimeFigureOut">
              <a:rPr lang="en-US" dirty="0"/>
              <a:pPr/>
              <a:t>9/15/2026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4CA46A-141E-21AB-51BA-BA1F0F39570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1900238"/>
            <a:ext cx="4924425" cy="43481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F8607D36-7013-02AC-69A9-8D38C5BBA7D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878824" y="1900238"/>
            <a:ext cx="4924425" cy="43481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1158186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655" y="932098"/>
            <a:ext cx="10835539" cy="7040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202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3D71BEE-9C65-4D84-970B-0B47E929926B}" type="datetimeFigureOut">
              <a:rPr lang="en-US" dirty="0"/>
              <a:pPr/>
              <a:t>9/15/2026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8654" y="1675614"/>
            <a:ext cx="4913919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1600" b="1"/>
            </a:lvl2pPr>
            <a:lvl3pPr marL="914400" indent="0">
              <a:buNone/>
              <a:defRPr sz="16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854769-C5D8-1BF0-C3A2-77216D6255D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2285022"/>
            <a:ext cx="4900773" cy="39633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6500" y="1675614"/>
            <a:ext cx="4967694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1600" b="1"/>
            </a:lvl2pPr>
            <a:lvl3pPr marL="914400" indent="0">
              <a:buNone/>
              <a:defRPr sz="16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3527224-4234-3620-766D-DCCA3AFDF896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9401" y="2285022"/>
            <a:ext cx="4982762" cy="39633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4337981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1113510"/>
            <a:ext cx="8380309" cy="87619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9AFCF02-D35E-46A4-B7A1-1A2B81F8D932}" type="datetimeFigureOut">
              <a:rPr lang="en-US" dirty="0"/>
              <a:pPr/>
              <a:t>9/15/2026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590888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A57AF51-4D04-4E0C-B33D-81940CAB4B07}" type="datetimeFigureOut">
              <a:rPr lang="en-US" dirty="0"/>
              <a:pPr/>
              <a:t>9/15/2026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279067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red and purple light&#10;&#10;AI-generated content may be incorrect.">
            <a:extLst>
              <a:ext uri="{FF2B5EF4-FFF2-40B4-BE49-F238E27FC236}">
                <a16:creationId xmlns:a16="http://schemas.microsoft.com/office/drawing/2014/main" id="{CC69B319-31FA-514C-5A82-30B4D1B20A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-1" y="0"/>
            <a:ext cx="121919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758952"/>
            <a:ext cx="7609668" cy="1734866"/>
          </a:xfrm>
        </p:spPr>
        <p:txBody>
          <a:bodyPr anchor="t">
            <a:noAutofit/>
          </a:bodyPr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DABFCF2-BE01-43CB-85B3-49CC0FE55050}" type="datetimeFigureOut">
              <a:rPr lang="en-US" dirty="0"/>
              <a:pPr/>
              <a:t>9/15/2026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9100" y="2705101"/>
            <a:ext cx="8801100" cy="294755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  <a:lvl2pPr>
              <a:defRPr lang="en-US" dirty="0">
                <a:solidFill>
                  <a:schemeClr val="tx1"/>
                </a:solidFill>
              </a:defRPr>
            </a:lvl2pPr>
            <a:lvl3pPr>
              <a:defRPr lang="en-US" dirty="0">
                <a:solidFill>
                  <a:schemeClr val="tx1"/>
                </a:solidFill>
              </a:defRPr>
            </a:lvl3pPr>
            <a:lvl4pPr>
              <a:defRPr lang="en-US" dirty="0">
                <a:solidFill>
                  <a:schemeClr val="tx1"/>
                </a:solidFill>
              </a:defRPr>
            </a:lvl4pPr>
            <a:lvl5pPr>
              <a:defRPr lang="en-US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2995963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ed and purple light&#10;&#10;AI-generated content may be incorrect.">
            <a:extLst>
              <a:ext uri="{FF2B5EF4-FFF2-40B4-BE49-F238E27FC236}">
                <a16:creationId xmlns:a16="http://schemas.microsoft.com/office/drawing/2014/main" id="{86565871-9318-EC0D-5245-A159818CA8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-1" y="0"/>
            <a:ext cx="12191999" cy="6858000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687F1B09-5020-D2DD-189E-7226AD232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2704772"/>
            <a:ext cx="5465660" cy="2733384"/>
          </a:xfrm>
        </p:spPr>
        <p:txBody>
          <a:bodyPr/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119A0F5-9D15-4E68-95BA-31AD4F5D84D0}" type="datetimeFigureOut">
              <a:rPr lang="en-US" dirty="0"/>
              <a:pPr/>
              <a:t>9/15/2026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8492B719-9068-0A96-E408-4EB3E9F85BE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05550" y="2705100"/>
            <a:ext cx="4410075" cy="15621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0289915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8501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1113510"/>
            <a:ext cx="9942409" cy="87619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417" y="2133600"/>
            <a:ext cx="9942409" cy="4305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2393" y="214858"/>
            <a:ext cx="2726376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01100" y="214858"/>
            <a:ext cx="192024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baseline="0">
                <a:solidFill>
                  <a:schemeClr val="tx1"/>
                </a:solidFill>
              </a:defRPr>
            </a:lvl1pPr>
          </a:lstStyle>
          <a:p>
            <a:fld id="{F288AF9F-2338-4040-A485-373B8EC8151E}" type="datetimeFigureOut">
              <a:rPr lang="en-US" dirty="0"/>
              <a:pPr/>
              <a:t>9/15/2026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1657" y="214858"/>
            <a:ext cx="555948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700" cap="all" baseline="0"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75261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  <p:sldLayoutId id="2147483690" r:id="rId18"/>
    <p:sldLayoutId id="2147483691" r:id="rId19"/>
    <p:sldLayoutId id="2147483692" r:id="rId20"/>
    <p:sldLayoutId id="2147483693" r:id="rId21"/>
    <p:sldLayoutId id="2147483694" r:id="rId22"/>
    <p:sldLayoutId id="2147483695" r:id="rId23"/>
    <p:sldLayoutId id="2147483696" r:id="rId24"/>
    <p:sldLayoutId id="2147483697" r:id="rId25"/>
    <p:sldLayoutId id="2147483698" r:id="rId26"/>
    <p:sldLayoutId id="2147483699" r:id="rId27"/>
    <p:sldLayoutId id="2147483700" r:id="rId28"/>
  </p:sldLayoutIdLst>
  <p:hf hd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000" b="0" kern="1200" spc="-11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264">
          <p15:clr>
            <a:srgbClr val="F26B43"/>
          </p15:clr>
        </p15:guide>
        <p15:guide id="4" orient="horz" pos="264">
          <p15:clr>
            <a:srgbClr val="F26B43"/>
          </p15:clr>
        </p15:guide>
        <p15:guide id="5" pos="7416">
          <p15:clr>
            <a:srgbClr val="F26B43"/>
          </p15:clr>
        </p15:guide>
        <p15:guide id="12" pos="4632">
          <p15:clr>
            <a:srgbClr val="F26B43"/>
          </p15:clr>
        </p15:guide>
        <p15:guide id="13" pos="5544">
          <p15:clr>
            <a:srgbClr val="F26B43"/>
          </p15:clr>
        </p15:guide>
        <p15:guide id="26" pos="2784">
          <p15:clr>
            <a:srgbClr val="F26B43"/>
          </p15:clr>
        </p15:guide>
        <p15:guide id="27" pos="3048">
          <p15:clr>
            <a:srgbClr val="F26B43"/>
          </p15:clr>
        </p15:guide>
        <p15:guide id="29" pos="3960">
          <p15:clr>
            <a:srgbClr val="F26B43"/>
          </p15:clr>
        </p15:guide>
        <p15:guide id="30" pos="1176">
          <p15:clr>
            <a:srgbClr val="F26B43"/>
          </p15:clr>
        </p15:guide>
        <p15:guide id="31" pos="912">
          <p15:clr>
            <a:srgbClr val="F26B43"/>
          </p15:clr>
        </p15:guide>
        <p15:guide id="32" pos="3696">
          <p15:clr>
            <a:srgbClr val="F26B43"/>
          </p15:clr>
        </p15:guide>
        <p15:guide id="33" pos="1848">
          <p15:clr>
            <a:srgbClr val="F26B43"/>
          </p15:clr>
        </p15:guide>
        <p15:guide id="34" pos="2112">
          <p15:clr>
            <a:srgbClr val="F26B43"/>
          </p15:clr>
        </p15:guide>
        <p15:guide id="36" pos="6528">
          <p15:clr>
            <a:srgbClr val="F26B43"/>
          </p15:clr>
        </p15:guide>
        <p15:guide id="37" pos="6744">
          <p15:clr>
            <a:srgbClr val="F26B43"/>
          </p15:clr>
        </p15:guide>
        <p15:guide id="42" orient="horz" pos="393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43A24-7157-EA01-FD63-C36B592D6B5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ea typeface="+mj-lt"/>
                <a:cs typeface="+mj-lt"/>
              </a:rPr>
              <a:t>Network Operations &amp; Predictive Intelligence System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8BD05E-5430-7153-2A49-8AEB465AE1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dirty="0">
                <a:ea typeface="+mn-lt"/>
                <a:cs typeface="+mn-lt"/>
              </a:rPr>
              <a:t>From reactive network monitoring to proactive network intelligence</a:t>
            </a: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0717036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88E21-F5A2-DFE5-9E93-770E1977F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The Problem 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9D66C6-41D8-0679-63BA-3DF849CA9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95D187-0BB6-B1A0-19EE-CEFAA763F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75F16-13CA-41A3-817B-E1D978C45851}" type="datetime1">
              <a:t>9/15/2026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252AB6-27CE-C529-C182-C7369B616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dirty="0"/>
              <a:pPr/>
              <a:t>2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2BF5D3-8890-E885-3AE9-6D574507BF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1600" b="1" dirty="0"/>
              <a:t>Telecom networks generate massive amounts of activity data</a:t>
            </a:r>
            <a:endParaRPr lang="en-US" sz="1600" dirty="0"/>
          </a:p>
          <a:p>
            <a:r>
              <a:rPr lang="en-US" sz="1600" dirty="0"/>
              <a:t>Every hour, thousands of network cells generate data from:</a:t>
            </a:r>
          </a:p>
          <a:p>
            <a:pPr marL="285750" indent="-285750">
              <a:buFont typeface="Arial,Sans-Serif"/>
              <a:buChar char="•"/>
            </a:pPr>
            <a:r>
              <a:rPr lang="en-US" sz="1600" dirty="0"/>
              <a:t>SMS activity </a:t>
            </a:r>
          </a:p>
          <a:p>
            <a:pPr marL="285750" indent="-285750">
              <a:buFont typeface="Arial,Sans-Serif"/>
              <a:buChar char="•"/>
            </a:pPr>
            <a:r>
              <a:rPr lang="en-US" sz="1600" dirty="0"/>
              <a:t>Call activity </a:t>
            </a:r>
          </a:p>
          <a:p>
            <a:pPr marL="285750" indent="-285750">
              <a:buFont typeface="Arial,Sans-Serif"/>
              <a:buChar char="•"/>
            </a:pPr>
            <a:r>
              <a:rPr lang="en-US" sz="1600" dirty="0"/>
              <a:t>Internet usage </a:t>
            </a:r>
          </a:p>
          <a:p>
            <a:pPr marL="285750" indent="-285750">
              <a:buFont typeface="Arial,Sans-Serif"/>
              <a:buChar char="•"/>
            </a:pPr>
            <a:r>
              <a:rPr lang="en-US" sz="1600" dirty="0"/>
              <a:t>Geographic grid locations </a:t>
            </a:r>
          </a:p>
          <a:p>
            <a:pPr marL="285750" indent="-285750">
              <a:buFont typeface="Arial,Sans-Serif"/>
              <a:buChar char="•"/>
            </a:pPr>
            <a:r>
              <a:rPr lang="en-US" sz="1600" dirty="0"/>
              <a:t>Historical network </a:t>
            </a:r>
            <a:r>
              <a:rPr lang="en-US" sz="1600" dirty="0" err="1"/>
              <a:t>behaviour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85096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EBCC3-B1E5-69A6-A3A5-0B13892E0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The challenge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E50452-F430-2BC2-3ADF-170419928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3707BE-5487-310D-3927-730D8CF624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F6253-6C8E-4CB3-8B47-825EA1A1E731}" type="datetime1">
              <a:t>9/15/2026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CC98A6-5811-D618-7775-23B769B94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dirty="0"/>
              <a:pPr/>
              <a:t>3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63FB5D-F76B-4B52-7FED-01CAB9C638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Traditional network monitoring is largely reactive.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A network operations team often discovers an abnormal situation only after activity has already changed significantly.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This creates problems: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Delayed detection 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Manual investigation 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Difficulty identifying high-risk cells 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Large volumes of data to monitor 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Historical patterns are difficult to use operationally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2236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C830E-FAC5-25C1-1C92-CA0C0A459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5D3B12-C5BC-D03F-25A9-DC32600F5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56B4C-C88C-7B17-75AB-B137D5B0D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9E8DD-1894-4C5A-BD75-7A28C54A5246}" type="datetime1">
              <a:t>9/15/2026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C8A6A2-23BD-4581-B4F3-6D3DA9C93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dirty="0"/>
              <a:pPr/>
              <a:t>4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064E60-09F6-3756-9377-370F033302C8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dirty="0"/>
              <a:t>Key question:</a:t>
            </a:r>
          </a:p>
          <a:p>
            <a:r>
              <a:rPr lang="en-US" sz="2800" dirty="0">
                <a:ea typeface="+mn-lt"/>
                <a:cs typeface="+mn-lt"/>
              </a:rPr>
              <a:t>Can we predict which network cells are likely to experience unusually high activity before the NOC needs to investigate them?</a:t>
            </a:r>
            <a:endParaRPr lang="en-US" sz="280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77588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BB3A2-71BF-BBF1-2B8D-62327EE47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The Product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B04688-9DF7-B309-8456-E6C7C9428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79D5F2-D088-6DA4-D53B-5D2CBB7AF9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88BA9-DF34-4E6F-B28D-391D17CF8CF0}" type="datetime1">
              <a:t>9/15/2026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EE0A4F-EEC3-4461-9055-51EC86A3D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dirty="0"/>
              <a:pPr/>
              <a:t>5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B4B998D-0C40-98E7-5592-437D094CAD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417" y="1991360"/>
            <a:ext cx="9942409" cy="4305300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 sz="2600" b="1" dirty="0"/>
              <a:t>Network Operations Intelligence Platform</a:t>
            </a:r>
            <a:endParaRPr lang="en-US" sz="2600"/>
          </a:p>
          <a:p>
            <a:r>
              <a:rPr lang="en-US" dirty="0">
                <a:ea typeface="+mn-lt"/>
                <a:cs typeface="+mn-lt"/>
              </a:rPr>
              <a:t>A unified platform that transforms raw telecom activity data into:</a:t>
            </a:r>
            <a:endParaRPr lang="en-US" dirty="0"/>
          </a:p>
          <a:p>
            <a:r>
              <a:rPr lang="en-US" b="1" dirty="0"/>
              <a:t>Observe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Real-time network activity visibility</a:t>
            </a:r>
            <a:endParaRPr lang="en-US" dirty="0"/>
          </a:p>
          <a:p>
            <a:r>
              <a:rPr lang="en-US" b="1" dirty="0"/>
              <a:t>Detect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Historical anomaly detection</a:t>
            </a:r>
            <a:endParaRPr lang="en-US" dirty="0"/>
          </a:p>
          <a:p>
            <a:r>
              <a:rPr lang="en-US" b="1" dirty="0"/>
              <a:t>Predict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Machine-learning-based network risk prediction</a:t>
            </a:r>
            <a:endParaRPr lang="en-US" dirty="0"/>
          </a:p>
          <a:p>
            <a:r>
              <a:rPr lang="en-US" b="1" dirty="0"/>
              <a:t>Explain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AI-assisted operational insights</a:t>
            </a:r>
            <a:endParaRPr lang="en-US" dirty="0"/>
          </a:p>
          <a:p>
            <a:r>
              <a:rPr lang="en-US" b="1" dirty="0"/>
              <a:t>Act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Give the NOC actionable information instead of raw data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00612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2D38E-8E3B-6204-AB14-2C6B42715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951" y="554710"/>
            <a:ext cx="9942409" cy="876193"/>
          </a:xfrm>
        </p:spPr>
        <p:txBody>
          <a:bodyPr/>
          <a:lstStyle/>
          <a:p>
            <a:r>
              <a:rPr lang="en-US" dirty="0">
                <a:ea typeface="+mj-lt"/>
                <a:cs typeface="+mj-lt"/>
              </a:rPr>
              <a:t>From Raw Data to Intelligence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BC1950-EE28-8DDE-B066-9E788ADF7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1A8D6F-2B40-E74E-1CEB-AF0AF22DF6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4E275-56EB-42ED-B931-7D5FC67B2063}" type="datetime1">
              <a:t>9/15/2026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2536F6-F917-507B-3DA3-AE777A80A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dirty="0"/>
              <a:pPr/>
              <a:t>6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36F260-ECC3-E235-C594-5C65579636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417" y="1432560"/>
            <a:ext cx="3907369" cy="50165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Telecom Activity Data -&gt; 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Data Ingestion -&gt; </a:t>
            </a:r>
          </a:p>
          <a:p>
            <a:r>
              <a:rPr lang="en-US" dirty="0">
                <a:ea typeface="+mn-lt"/>
                <a:cs typeface="+mn-lt"/>
              </a:rPr>
              <a:t>Data Cleaning &amp; Standardization -&gt;</a:t>
            </a:r>
          </a:p>
          <a:p>
            <a:r>
              <a:rPr lang="en-US" dirty="0">
                <a:ea typeface="+mn-lt"/>
                <a:cs typeface="+mn-lt"/>
              </a:rPr>
              <a:t> Spark Processing -&gt; </a:t>
            </a:r>
          </a:p>
          <a:p>
            <a:r>
              <a:rPr lang="en-US" dirty="0">
                <a:ea typeface="+mn-lt"/>
                <a:cs typeface="+mn-lt"/>
              </a:rPr>
              <a:t>MySQL Analytical Warehouse -&gt; </a:t>
            </a:r>
            <a:endParaRPr lang="en-US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ML Features -&gt; </a:t>
            </a:r>
          </a:p>
          <a:p>
            <a:r>
              <a:rPr lang="en-US" dirty="0">
                <a:ea typeface="+mn-lt"/>
                <a:cs typeface="+mn-lt"/>
              </a:rPr>
              <a:t>ML Prediction &amp; Anomaly Detection -&gt; </a:t>
            </a:r>
          </a:p>
          <a:p>
            <a:r>
              <a:rPr lang="en-US" dirty="0">
                <a:ea typeface="+mn-lt"/>
                <a:cs typeface="+mn-lt"/>
              </a:rPr>
              <a:t>API Layer -&gt; </a:t>
            </a:r>
          </a:p>
          <a:p>
            <a:r>
              <a:rPr lang="en-US" dirty="0">
                <a:ea typeface="+mn-lt"/>
                <a:cs typeface="+mn-lt"/>
              </a:rPr>
              <a:t>React Dashboard -&gt; </a:t>
            </a:r>
          </a:p>
          <a:p>
            <a:r>
              <a:rPr lang="en-US" dirty="0">
                <a:ea typeface="+mn-lt"/>
                <a:cs typeface="+mn-lt"/>
              </a:rPr>
              <a:t>Claude AI Assistant</a:t>
            </a:r>
            <a:endParaRPr 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D976D6C-5933-08CE-DFA2-63E02A8A30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064863"/>
              </p:ext>
            </p:extLst>
          </p:nvPr>
        </p:nvGraphicFramePr>
        <p:xfrm>
          <a:off x="4551680" y="2164080"/>
          <a:ext cx="7014346" cy="32004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507173">
                  <a:extLst>
                    <a:ext uri="{9D8B030D-6E8A-4147-A177-3AD203B41FA5}">
                      <a16:colId xmlns:a16="http://schemas.microsoft.com/office/drawing/2014/main" val="3797684459"/>
                    </a:ext>
                  </a:extLst>
                </a:gridCol>
                <a:gridCol w="3507173">
                  <a:extLst>
                    <a:ext uri="{9D8B030D-6E8A-4147-A177-3AD203B41FA5}">
                      <a16:colId xmlns:a16="http://schemas.microsoft.com/office/drawing/2014/main" val="3888557224"/>
                    </a:ext>
                  </a:extLst>
                </a:gridCol>
              </a:tblGrid>
              <a:tr h="3420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Question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Component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3479151"/>
                  </a:ext>
                </a:extLst>
              </a:tr>
              <a:tr h="3420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What happened?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Spark / Analytics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6337315"/>
                  </a:ext>
                </a:extLst>
              </a:tr>
              <a:tr h="3420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Where?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GeoJSON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+ Map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2971800"/>
                  </a:ext>
                </a:extLst>
              </a:tr>
              <a:tr h="3420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Is it unusual?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Alerts / Anomaly Detection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6569058"/>
                  </a:ext>
                </a:extLst>
              </a:tr>
              <a:tr h="3420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How risky is it?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ML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6556938"/>
                  </a:ext>
                </a:extLst>
              </a:tr>
              <a:tr h="3420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Is our data trustworthy?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Pipeline Status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79149"/>
                  </a:ext>
                </a:extLst>
              </a:tr>
              <a:tr h="3420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What should I investigate?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Claude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4113068"/>
                  </a:ext>
                </a:extLst>
              </a:tr>
              <a:tr h="3420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Why does Claude believe that?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Tool calls + Evidence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74612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6942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0D52C-D1D9-B07C-192E-F18967B10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554710"/>
            <a:ext cx="9942409" cy="876193"/>
          </a:xfrm>
        </p:spPr>
        <p:txBody>
          <a:bodyPr/>
          <a:lstStyle/>
          <a:p>
            <a:r>
              <a:rPr lang="en-US" dirty="0">
                <a:ea typeface="+mj-lt"/>
                <a:cs typeface="+mj-lt"/>
              </a:rPr>
              <a:t>Six </a:t>
            </a:r>
            <a:r>
              <a:rPr lang="en-US" dirty="0" err="1">
                <a:ea typeface="+mj-lt"/>
                <a:cs typeface="+mj-lt"/>
              </a:rPr>
              <a:t>behavioural</a:t>
            </a:r>
            <a:r>
              <a:rPr lang="en-US" dirty="0">
                <a:ea typeface="+mj-lt"/>
                <a:cs typeface="+mj-lt"/>
              </a:rPr>
              <a:t> features 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98CAE0-862F-B95A-2728-3AC88E33F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0D8203-AB72-35E8-F7AF-83942E4B1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9762B-9BEA-44EF-9B63-5371B1157802}" type="datetime1">
              <a:t>9/15/2026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D7A142-9E43-479E-ED07-C11190552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dirty="0"/>
              <a:pPr/>
              <a:t>7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41CDC2-8C64-E2E2-1708-C71618E11E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417" y="1188720"/>
            <a:ext cx="6823289" cy="4478020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300" b="1" dirty="0">
                <a:ea typeface="+mn-lt"/>
                <a:cs typeface="+mn-lt"/>
              </a:rPr>
              <a:t>Average Activity</a:t>
            </a:r>
            <a:endParaRPr lang="en-US" sz="1300"/>
          </a:p>
          <a:p>
            <a:r>
              <a:rPr lang="en-US" sz="1300" dirty="0">
                <a:ea typeface="+mn-lt"/>
                <a:cs typeface="+mn-lt"/>
              </a:rPr>
              <a:t>How active has the grid been recently?</a:t>
            </a:r>
            <a:endParaRPr lang="en-US" sz="1300"/>
          </a:p>
          <a:p>
            <a:r>
              <a:rPr lang="en-US" sz="1300" b="1" dirty="0">
                <a:ea typeface="+mn-lt"/>
                <a:cs typeface="+mn-lt"/>
              </a:rPr>
              <a:t>Activity Growth</a:t>
            </a:r>
            <a:endParaRPr lang="en-US" sz="1300"/>
          </a:p>
          <a:p>
            <a:r>
              <a:rPr lang="en-US" sz="1300" dirty="0">
                <a:ea typeface="+mn-lt"/>
                <a:cs typeface="+mn-lt"/>
              </a:rPr>
              <a:t>Is activity increasing compared with the previous period?</a:t>
            </a:r>
            <a:endParaRPr lang="en-US" sz="1300"/>
          </a:p>
          <a:p>
            <a:r>
              <a:rPr lang="en-US" sz="1300" b="1" dirty="0">
                <a:ea typeface="+mn-lt"/>
                <a:cs typeface="+mn-lt"/>
              </a:rPr>
              <a:t>Active Hours</a:t>
            </a:r>
            <a:endParaRPr lang="en-US" sz="1300"/>
          </a:p>
          <a:p>
            <a:r>
              <a:rPr lang="en-US" sz="1300" dirty="0">
                <a:ea typeface="+mn-lt"/>
                <a:cs typeface="+mn-lt"/>
              </a:rPr>
              <a:t>How consistently active is the grid?</a:t>
            </a:r>
            <a:endParaRPr lang="en-US" sz="1300"/>
          </a:p>
          <a:p>
            <a:r>
              <a:rPr lang="en-US" sz="1300" b="1" dirty="0">
                <a:ea typeface="+mn-lt"/>
                <a:cs typeface="+mn-lt"/>
              </a:rPr>
              <a:t>Peak Ratio</a:t>
            </a:r>
            <a:endParaRPr lang="en-US" sz="1300"/>
          </a:p>
          <a:p>
            <a:r>
              <a:rPr lang="en-US" sz="1300" dirty="0">
                <a:ea typeface="+mn-lt"/>
                <a:cs typeface="+mn-lt"/>
              </a:rPr>
              <a:t>How strong are peaks compared with the average?</a:t>
            </a:r>
            <a:endParaRPr lang="en-US" sz="1300"/>
          </a:p>
          <a:p>
            <a:r>
              <a:rPr lang="en-US" sz="1300" b="1" dirty="0">
                <a:ea typeface="+mn-lt"/>
                <a:cs typeface="+mn-lt"/>
              </a:rPr>
              <a:t>Variability</a:t>
            </a:r>
            <a:endParaRPr lang="en-US" sz="1300"/>
          </a:p>
          <a:p>
            <a:r>
              <a:rPr lang="en-US" sz="1300" dirty="0">
                <a:ea typeface="+mn-lt"/>
                <a:cs typeface="+mn-lt"/>
              </a:rPr>
              <a:t>How much does activity fluctuate?</a:t>
            </a:r>
            <a:endParaRPr lang="en-US" sz="1300"/>
          </a:p>
          <a:p>
            <a:r>
              <a:rPr lang="en-US" sz="1300" b="1" dirty="0">
                <a:ea typeface="+mn-lt"/>
                <a:cs typeface="+mn-lt"/>
              </a:rPr>
              <a:t>Internet Share</a:t>
            </a:r>
            <a:endParaRPr lang="en-US" sz="1300"/>
          </a:p>
          <a:p>
            <a:r>
              <a:rPr lang="en-US" sz="1300" dirty="0">
                <a:ea typeface="+mn-lt"/>
                <a:cs typeface="+mn-lt"/>
              </a:rPr>
              <a:t>How much of the activity comes from internet usage?</a:t>
            </a:r>
            <a:endParaRPr lang="en-US" sz="1300"/>
          </a:p>
          <a:p>
            <a:r>
              <a:rPr lang="en-US" sz="2300" dirty="0"/>
              <a:t>Plus time-of-day features</a:t>
            </a:r>
          </a:p>
          <a:p>
            <a:r>
              <a:rPr lang="en-US" sz="1300" dirty="0">
                <a:latin typeface="Consolas"/>
              </a:rPr>
              <a:t>hour_sin
</a:t>
            </a:r>
            <a:r>
              <a:rPr lang="en-US" sz="1300" dirty="0" err="1">
                <a:latin typeface="Consolas"/>
              </a:rPr>
              <a:t>hour_cos</a:t>
            </a:r>
            <a:endParaRPr lang="en-US" sz="130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12249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8A29E8-A972-A34B-38A6-D4573E8ED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260" y="546608"/>
            <a:ext cx="8382000" cy="701657"/>
          </a:xfrm>
        </p:spPr>
        <p:txBody>
          <a:bodyPr/>
          <a:lstStyle/>
          <a:p>
            <a:r>
              <a:rPr lang="en-US" dirty="0">
                <a:ea typeface="+mj-lt"/>
                <a:cs typeface="+mj-lt"/>
              </a:rPr>
              <a:t>NOC Dashboard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29754D-CD9F-E8FB-1EBB-E7C660AFF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FCFEE2-C5F2-4D4E-B675-208CC081D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9DAB6-BA89-45E3-9BFF-03FFFD6B3C0C}" type="datetime1">
              <a:t>9/15/2026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3D8A07-20CC-BFB8-9E51-89829F706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dirty="0"/>
              <a:pPr/>
              <a:t>8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DD04280-9015-65DD-69E0-016A015A8F4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21640" y="1249998"/>
            <a:ext cx="4924425" cy="4348162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600" b="1" dirty="0"/>
              <a:t>One Operational View</a:t>
            </a:r>
            <a:endParaRPr lang="en-US" sz="1600" dirty="0"/>
          </a:p>
          <a:p>
            <a:r>
              <a:rPr lang="en-US" sz="1600" dirty="0">
                <a:ea typeface="+mn-lt"/>
                <a:cs typeface="+mn-lt"/>
              </a:rPr>
              <a:t>The React dashboard brings the different intelligence layers together.</a:t>
            </a:r>
            <a:endParaRPr lang="en-US" sz="1600" dirty="0"/>
          </a:p>
          <a:p>
            <a:r>
              <a:rPr lang="en-US" sz="1600" b="1" dirty="0"/>
              <a:t>Dashboard capabilities:</a:t>
            </a:r>
          </a:p>
          <a:p>
            <a:r>
              <a:rPr lang="en-US" sz="1600" b="1" dirty="0">
                <a:ea typeface="+mn-lt"/>
                <a:cs typeface="+mn-lt"/>
              </a:rPr>
              <a:t>Network Overview</a:t>
            </a:r>
            <a:endParaRPr lang="en-US" sz="1600" dirty="0"/>
          </a:p>
          <a:p>
            <a:pPr marL="285750" indent="-285750">
              <a:buFont typeface="Arial"/>
              <a:buChar char="•"/>
            </a:pPr>
            <a:r>
              <a:rPr lang="en-US" sz="1600" dirty="0">
                <a:ea typeface="+mn-lt"/>
                <a:cs typeface="+mn-lt"/>
              </a:rPr>
              <a:t>Total activity </a:t>
            </a:r>
            <a:endParaRPr lang="en-US" sz="1600" dirty="0"/>
          </a:p>
          <a:p>
            <a:pPr marL="285750" indent="-285750">
              <a:buFont typeface="Arial"/>
              <a:buChar char="•"/>
            </a:pPr>
            <a:r>
              <a:rPr lang="en-US" sz="1600" dirty="0">
                <a:ea typeface="+mn-lt"/>
                <a:cs typeface="+mn-lt"/>
              </a:rPr>
              <a:t>Active grids </a:t>
            </a:r>
            <a:endParaRPr lang="en-US" sz="1600" dirty="0"/>
          </a:p>
          <a:p>
            <a:pPr marL="285750" indent="-285750">
              <a:buFont typeface="Arial"/>
              <a:buChar char="•"/>
            </a:pPr>
            <a:r>
              <a:rPr lang="en-US" sz="1600" dirty="0">
                <a:ea typeface="+mn-lt"/>
                <a:cs typeface="+mn-lt"/>
              </a:rPr>
              <a:t>Network statistics </a:t>
            </a:r>
            <a:endParaRPr lang="en-US" sz="1600" dirty="0"/>
          </a:p>
          <a:p>
            <a:pPr marL="285750" indent="-285750">
              <a:buFont typeface="Arial"/>
              <a:buChar char="•"/>
            </a:pPr>
            <a:endParaRPr lang="en-US" sz="1600" dirty="0">
              <a:ea typeface="+mn-lt"/>
              <a:cs typeface="+mn-lt"/>
            </a:endParaRPr>
          </a:p>
          <a:p>
            <a:r>
              <a:rPr lang="en-US" sz="1600" b="1" dirty="0">
                <a:ea typeface="+mn-lt"/>
                <a:cs typeface="+mn-lt"/>
              </a:rPr>
              <a:t>Grid Monitoring</a:t>
            </a:r>
            <a:endParaRPr lang="en-US" sz="1600" dirty="0"/>
          </a:p>
          <a:p>
            <a:pPr marL="285750" indent="-285750">
              <a:buFont typeface="Arial"/>
              <a:buChar char="•"/>
            </a:pPr>
            <a:r>
              <a:rPr lang="en-US" sz="1600" dirty="0">
                <a:ea typeface="+mn-lt"/>
                <a:cs typeface="+mn-lt"/>
              </a:rPr>
              <a:t>Individual grid activity </a:t>
            </a:r>
            <a:endParaRPr lang="en-US" sz="1600" dirty="0"/>
          </a:p>
          <a:p>
            <a:pPr marL="285750" indent="-285750">
              <a:buFont typeface="Arial"/>
              <a:buChar char="•"/>
            </a:pPr>
            <a:r>
              <a:rPr lang="en-US" sz="1600" dirty="0">
                <a:ea typeface="+mn-lt"/>
                <a:cs typeface="+mn-lt"/>
              </a:rPr>
              <a:t>Historical behaviour </a:t>
            </a:r>
            <a:endParaRPr lang="en-US" sz="1600" dirty="0"/>
          </a:p>
          <a:p>
            <a:endParaRPr lang="en-US" sz="1600" dirty="0"/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8E45825-B352-A79E-2A6F-1C47ECB02C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1125" y="894784"/>
            <a:ext cx="5159565" cy="271289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FF30516-CC89-40AF-E143-299A37D541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3896" y="3789482"/>
            <a:ext cx="5145974" cy="2693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1263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1DB9534-F3CC-D5C7-FE00-8D87E5637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8E0617-2CE7-81C7-7BCE-A94B4025F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C0E96-4A0A-4DC4-86EB-4C95DD65D2CF}" type="datetime1">
              <a:t>9/15/2026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D08441-B33E-48D4-7D36-8D7D37430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dirty="0"/>
              <a:pPr/>
              <a:t>9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710E59-E649-41F1-071B-4E8514DF2340}"/>
              </a:ext>
            </a:extLst>
          </p:cNvPr>
          <p:cNvSpPr txBox="1"/>
          <p:nvPr/>
        </p:nvSpPr>
        <p:spPr>
          <a:xfrm>
            <a:off x="860961" y="984662"/>
            <a:ext cx="6096000" cy="449764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 rtl="0"/>
            <a:r>
              <a:rPr lang="en-US" sz="1600" b="1" i="0" u="none" strike="noStrike" baseline="0" dirty="0">
                <a:solidFill>
                  <a:srgbClr val="FFFFFF"/>
                </a:solidFill>
                <a:latin typeface="Neue Haas Grotesk Text Pro"/>
                <a:ea typeface="Segoe UI"/>
                <a:cs typeface="Segoe UI"/>
              </a:rPr>
              <a:t>Hotspots</a:t>
            </a:r>
            <a:r>
              <a:rPr lang="en-US" sz="1600" b="0" i="0" dirty="0">
                <a:solidFill>
                  <a:srgbClr val="FFFFFF"/>
                </a:solidFill>
                <a:latin typeface="Neue Haas Grotesk Text Pro"/>
                <a:ea typeface="Segoe UI"/>
                <a:cs typeface="Segoe UI"/>
              </a:rPr>
              <a:t>​</a:t>
            </a:r>
          </a:p>
          <a:p>
            <a:pPr marL="285750" lvl="0" indent="-285750" algn="l" rtl="0">
              <a:buFont typeface="Arial,Sans-Serif"/>
              <a:buChar char="•"/>
            </a:pPr>
            <a:r>
              <a:rPr lang="en-US" sz="1600" b="0" i="0" u="none" strike="noStrike" baseline="0" dirty="0">
                <a:solidFill>
                  <a:srgbClr val="FFFFFF"/>
                </a:solidFill>
                <a:latin typeface="Neue Haas Grotesk Text Pro"/>
                <a:ea typeface="Arial"/>
                <a:cs typeface="Arial"/>
              </a:rPr>
              <a:t>Highest activity grids </a:t>
            </a:r>
            <a:r>
              <a:rPr lang="en-US" sz="1600" b="0" i="0" dirty="0">
                <a:solidFill>
                  <a:srgbClr val="FFFFFF"/>
                </a:solidFill>
                <a:latin typeface="Neue Haas Grotesk Text Pro"/>
                <a:ea typeface="Arial"/>
                <a:cs typeface="Arial"/>
              </a:rPr>
              <a:t>​</a:t>
            </a:r>
          </a:p>
          <a:p>
            <a:pPr marL="285750" indent="-285750">
              <a:buFont typeface="Arial,Sans-Serif"/>
              <a:buChar char="•"/>
            </a:pPr>
            <a:endParaRPr lang="en-US" sz="1600" dirty="0">
              <a:cs typeface="Arial"/>
            </a:endParaRPr>
          </a:p>
          <a:p>
            <a:pPr>
              <a:lnSpc>
                <a:spcPct val="120000"/>
              </a:lnSpc>
              <a:spcBef>
                <a:spcPts val="1000"/>
              </a:spcBef>
            </a:pPr>
            <a:r>
              <a:rPr lang="en-US" sz="1600" b="1" dirty="0">
                <a:cs typeface="Arial"/>
              </a:rPr>
              <a:t>Alerts</a:t>
            </a:r>
            <a:endParaRPr lang="en-US" sz="1600" dirty="0">
              <a:cs typeface="Arial"/>
            </a:endParaRPr>
          </a:p>
          <a:p>
            <a:pPr marL="285750" indent="-285750">
              <a:lnSpc>
                <a:spcPct val="120000"/>
              </a:lnSpc>
              <a:spcBef>
                <a:spcPts val="1000"/>
              </a:spcBef>
              <a:buFont typeface="Arial,Sans-Serif"/>
              <a:buChar char="•"/>
            </a:pPr>
            <a:r>
              <a:rPr lang="en-US" sz="1600" dirty="0">
                <a:cs typeface="Arial"/>
              </a:rPr>
              <a:t>Network alerts </a:t>
            </a:r>
          </a:p>
          <a:p>
            <a:pPr marL="285750" indent="-285750">
              <a:lnSpc>
                <a:spcPct val="120000"/>
              </a:lnSpc>
              <a:spcBef>
                <a:spcPts val="1000"/>
              </a:spcBef>
              <a:buFont typeface="Arial,Sans-Serif"/>
              <a:buChar char="•"/>
            </a:pPr>
            <a:r>
              <a:rPr lang="en-US" sz="1600" dirty="0">
                <a:cs typeface="Arial"/>
              </a:rPr>
              <a:t>Historical anomalies </a:t>
            </a:r>
          </a:p>
          <a:p>
            <a:pPr marL="285750" indent="-285750">
              <a:lnSpc>
                <a:spcPct val="120000"/>
              </a:lnSpc>
              <a:spcBef>
                <a:spcPts val="1000"/>
              </a:spcBef>
              <a:buFont typeface="Arial,Sans-Serif"/>
              <a:buChar char="•"/>
            </a:pPr>
            <a:endParaRPr lang="en-US" sz="1600" dirty="0">
              <a:cs typeface="Arial"/>
            </a:endParaRPr>
          </a:p>
          <a:p>
            <a:pPr>
              <a:lnSpc>
                <a:spcPct val="120000"/>
              </a:lnSpc>
              <a:spcBef>
                <a:spcPts val="1000"/>
              </a:spcBef>
            </a:pPr>
            <a:r>
              <a:rPr lang="en-US" sz="1600" b="1" dirty="0">
                <a:cs typeface="Arial"/>
              </a:rPr>
              <a:t>Predictive Risk</a:t>
            </a:r>
            <a:endParaRPr lang="en-US" sz="1600" dirty="0">
              <a:cs typeface="Arial"/>
            </a:endParaRPr>
          </a:p>
          <a:p>
            <a:pPr marL="285750" indent="-285750">
              <a:lnSpc>
                <a:spcPct val="120000"/>
              </a:lnSpc>
              <a:spcBef>
                <a:spcPts val="1000"/>
              </a:spcBef>
              <a:buFont typeface="Arial,Sans-Serif"/>
              <a:buChar char="•"/>
            </a:pPr>
            <a:r>
              <a:rPr lang="en-US" sz="1600" dirty="0">
                <a:cs typeface="Arial"/>
              </a:rPr>
              <a:t>Select grid </a:t>
            </a:r>
          </a:p>
          <a:p>
            <a:pPr marL="285750" indent="-285750">
              <a:lnSpc>
                <a:spcPct val="120000"/>
              </a:lnSpc>
              <a:spcBef>
                <a:spcPts val="1000"/>
              </a:spcBef>
              <a:buFont typeface="Arial,Sans-Serif"/>
              <a:buChar char="•"/>
            </a:pPr>
            <a:r>
              <a:rPr lang="en-US" sz="1600" dirty="0">
                <a:cs typeface="Arial"/>
              </a:rPr>
              <a:t>Select timestamp </a:t>
            </a:r>
          </a:p>
          <a:p>
            <a:pPr marL="285750" indent="-285750">
              <a:lnSpc>
                <a:spcPct val="120000"/>
              </a:lnSpc>
              <a:spcBef>
                <a:spcPts val="1000"/>
              </a:spcBef>
              <a:buFont typeface="Arial,Sans-Serif"/>
              <a:buChar char="•"/>
            </a:pPr>
            <a:r>
              <a:rPr lang="en-US" sz="1600" dirty="0">
                <a:cs typeface="Arial"/>
              </a:rPr>
              <a:t>Receive ML prediction</a:t>
            </a:r>
            <a:endParaRPr lang="en-US" dirty="0"/>
          </a:p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D73B495-BF4E-CDFF-98CE-BC6F83D3B4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2390" y="985603"/>
            <a:ext cx="3889170" cy="210599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C7ABE93-6401-3700-E6A5-24C9EE94F6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9584" y="987869"/>
            <a:ext cx="3908963" cy="209156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BCB69E7-BA8F-D9A4-772D-429A5D728A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1817" y="3427658"/>
            <a:ext cx="4245429" cy="2199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21104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38E0C-7052-345F-9068-113D4373A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Assistant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1DF8FD-C836-080C-A854-30B518D06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6941A1-6F32-91B2-B31D-79606E662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2D15E-2745-4D53-A059-C728F8F3EC9E}" type="datetime1">
              <a:t>9/15/2026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269E25-B156-33CA-58C8-FEB804E30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dirty="0"/>
              <a:pPr/>
              <a:t>10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A6A4E3E-8DC9-4A50-2F4B-3BB451E9D5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b="1" dirty="0"/>
              <a:t>Claude-Powered Network Assistant</a:t>
            </a:r>
            <a:endParaRPr lang="en-US" sz="2000"/>
          </a:p>
          <a:p>
            <a:r>
              <a:rPr lang="en-US" dirty="0">
                <a:ea typeface="+mn-lt"/>
                <a:cs typeface="+mn-lt"/>
              </a:rPr>
              <a:t>Instead of forcing an operator to manually interpret multiple screens and datasets, the AI assistant provides a natural-language interface.</a:t>
            </a:r>
            <a:endParaRPr lang="en-US" dirty="0"/>
          </a:p>
          <a:p>
            <a:r>
              <a:rPr lang="en-US" b="1" dirty="0"/>
              <a:t>Example questions</a:t>
            </a:r>
          </a:p>
          <a:p>
            <a:r>
              <a:rPr lang="en-US" dirty="0">
                <a:ea typeface="+mn-lt"/>
                <a:cs typeface="+mn-lt"/>
              </a:rPr>
              <a:t>"Why is Grid 4821 high risk?"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"What happened to this grid historically?"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"Which grids should I investigate?"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"Is this activity unusual for this time of day?"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0014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179E87-E3BB-47B6-F01F-EC66A61A8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233" y="758952"/>
            <a:ext cx="9590868" cy="1318306"/>
          </a:xfrm>
        </p:spPr>
        <p:txBody>
          <a:bodyPr/>
          <a:lstStyle/>
          <a:p>
            <a:r>
              <a:rPr lang="en-US" sz="5400" dirty="0">
                <a:ea typeface="+mj-lt"/>
                <a:cs typeface="+mj-lt"/>
              </a:rPr>
              <a:t>Value to Network Operations </a:t>
            </a:r>
            <a:endParaRPr lang="en-US" sz="540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F398BB-B66F-7951-776E-6A7200398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B38823-8459-D350-4EE4-4D095A946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AC25A-9C9D-49A4-BB26-340BBC09844F}" type="datetime1">
              <a:t>9/15/2026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2DCE95-5D26-D697-5EFD-6414FBD0C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dirty="0"/>
              <a:pPr/>
              <a:t>11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C44FDE-F098-ECF8-D14A-C73B855AF9B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9100" y="1709421"/>
            <a:ext cx="8801100" cy="294755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>
                <a:ea typeface="+mn-lt"/>
                <a:cs typeface="+mn-lt"/>
              </a:rPr>
              <a:t>Faster detection</a:t>
            </a:r>
            <a:endParaRPr lang="en-US"/>
          </a:p>
          <a:p>
            <a:r>
              <a:rPr lang="en-US" dirty="0">
                <a:ea typeface="+mn-lt"/>
                <a:cs typeface="+mn-lt"/>
              </a:rPr>
              <a:t>Quickly surface unusual areas.</a:t>
            </a:r>
            <a:endParaRPr lang="en-US"/>
          </a:p>
          <a:p>
            <a:r>
              <a:rPr lang="en-US" b="1" dirty="0">
                <a:ea typeface="+mn-lt"/>
                <a:cs typeface="+mn-lt"/>
              </a:rPr>
              <a:t>Better prioritization</a:t>
            </a:r>
            <a:endParaRPr lang="en-US"/>
          </a:p>
          <a:p>
            <a:r>
              <a:rPr lang="en-US" dirty="0">
                <a:ea typeface="+mn-lt"/>
                <a:cs typeface="+mn-lt"/>
              </a:rPr>
              <a:t>Focus operators on the grids that need attention.</a:t>
            </a:r>
            <a:endParaRPr lang="en-US"/>
          </a:p>
          <a:p>
            <a:r>
              <a:rPr lang="en-US" b="1" dirty="0">
                <a:ea typeface="+mn-lt"/>
                <a:cs typeface="+mn-lt"/>
              </a:rPr>
              <a:t>Geographic awareness</a:t>
            </a:r>
            <a:endParaRPr lang="en-US"/>
          </a:p>
          <a:p>
            <a:r>
              <a:rPr lang="en-US" dirty="0">
                <a:ea typeface="+mn-lt"/>
                <a:cs typeface="+mn-lt"/>
              </a:rPr>
              <a:t>Connect analytical results to physical locations.</a:t>
            </a:r>
            <a:endParaRPr lang="en-US"/>
          </a:p>
          <a:p>
            <a:r>
              <a:rPr lang="en-US" b="1" dirty="0">
                <a:ea typeface="+mn-lt"/>
                <a:cs typeface="+mn-lt"/>
              </a:rPr>
              <a:t>Evidence-based investigation</a:t>
            </a:r>
            <a:endParaRPr lang="en-US"/>
          </a:p>
          <a:p>
            <a:r>
              <a:rPr lang="en-US" dirty="0">
                <a:ea typeface="+mn-lt"/>
                <a:cs typeface="+mn-lt"/>
              </a:rPr>
              <a:t>Claude works from actual platform evidence.</a:t>
            </a:r>
            <a:endParaRPr lang="en-US"/>
          </a:p>
          <a:p>
            <a:r>
              <a:rPr lang="en-US" b="1" dirty="0">
                <a:ea typeface="+mn-lt"/>
                <a:cs typeface="+mn-lt"/>
              </a:rPr>
              <a:t>Operational transparency</a:t>
            </a:r>
            <a:endParaRPr lang="en-US"/>
          </a:p>
          <a:p>
            <a:r>
              <a:rPr lang="en-US" dirty="0">
                <a:ea typeface="+mn-lt"/>
                <a:cs typeface="+mn-lt"/>
              </a:rPr>
              <a:t>Pipeline health and uncertainty are visible instead of hidden.</a:t>
            </a:r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8383996"/>
      </p:ext>
    </p:extLst>
  </p:cSld>
  <p:clrMapOvr>
    <a:masterClrMapping/>
  </p:clrMapOvr>
</p:sld>
</file>

<file path=ppt/theme/theme1.xml><?xml version="1.0" encoding="utf-8"?>
<a:theme xmlns:a="http://schemas.openxmlformats.org/drawingml/2006/main" name="Film Burn">
  <a:themeElements>
    <a:clrScheme name="Film Burn">
      <a:dk1>
        <a:srgbClr val="09090C"/>
      </a:dk1>
      <a:lt1>
        <a:sysClr val="window" lastClr="FFFFFF"/>
      </a:lt1>
      <a:dk2>
        <a:srgbClr val="000000"/>
      </a:dk2>
      <a:lt2>
        <a:srgbClr val="F9EFEC"/>
      </a:lt2>
      <a:accent1>
        <a:srgbClr val="CB49B2"/>
      </a:accent1>
      <a:accent2>
        <a:srgbClr val="7C3191"/>
      </a:accent2>
      <a:accent3>
        <a:srgbClr val="E95D48"/>
      </a:accent3>
      <a:accent4>
        <a:srgbClr val="F08E6B"/>
      </a:accent4>
      <a:accent5>
        <a:srgbClr val="D93752"/>
      </a:accent5>
      <a:accent6>
        <a:srgbClr val="EE7345"/>
      </a:accent6>
      <a:hlink>
        <a:srgbClr val="CB49B2"/>
      </a:hlink>
      <a:folHlink>
        <a:srgbClr val="E95D48"/>
      </a:folHlink>
    </a:clrScheme>
    <a:fontScheme name="Film Burn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Film Burn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lm Burn" id="{D87570FC-4836-4BB0-AAFD-165DAAA9EA26}" vid="{EE25A5E3-C8B7-4876-88F1-4A6AC5925EC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Film Burn</vt:lpstr>
      <vt:lpstr>Network Operations &amp; Predictive Intelligence System</vt:lpstr>
      <vt:lpstr>The Problem </vt:lpstr>
      <vt:lpstr>The challenge</vt:lpstr>
      <vt:lpstr>PowerPoint Presentation</vt:lpstr>
      <vt:lpstr>The Product</vt:lpstr>
      <vt:lpstr>From Raw Data to Intelligence</vt:lpstr>
      <vt:lpstr>Six behavioural features </vt:lpstr>
      <vt:lpstr>NOC Dashboard</vt:lpstr>
      <vt:lpstr>PowerPoint Presentation</vt:lpstr>
      <vt:lpstr>AI Assistant</vt:lpstr>
      <vt:lpstr>Value to Network Operations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 </cp:lastModifiedBy>
  <cp:revision>178</cp:revision>
  <dcterms:created xsi:type="dcterms:W3CDTF">2013-07-15T20:26:40Z</dcterms:created>
  <dcterms:modified xsi:type="dcterms:W3CDTF">2026-09-15T16:54:57Z</dcterms:modified>
</cp:coreProperties>
</file>